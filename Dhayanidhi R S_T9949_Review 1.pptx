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147470505" r:id="rId2"/>
    <p:sldId id="2147470507" r:id="rId3"/>
    <p:sldId id="2147470493" r:id="rId4"/>
    <p:sldId id="2147470510" r:id="rId5"/>
    <p:sldId id="2147470511" r:id="rId6"/>
    <p:sldId id="2147470514" r:id="rId7"/>
    <p:sldId id="2147470512" r:id="rId8"/>
    <p:sldId id="2147470515" r:id="rId9"/>
    <p:sldId id="2147470513" r:id="rId10"/>
    <p:sldId id="214747048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4D98"/>
    <a:srgbClr val="30BBDA"/>
    <a:srgbClr val="47BDAE"/>
    <a:srgbClr val="25B9ED"/>
    <a:srgbClr val="FFFFFF"/>
    <a:srgbClr val="47BDAF"/>
    <a:srgbClr val="696969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AE01A2-B79B-4D03-8991-148850DB352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BBCD4-A5DC-44E7-90C4-CFDCC57302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495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ClusterMind detects GPU degradation, explains its workload impact, identifies the probable cause, and recommends a safe recovery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753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ClusterMind converts raw GPU telemetry into an understandable incident explanation and a controlled recovery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345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objective is not only anomaly detection. The system must explain what happened, why it matters, and what should be done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215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Each module has one clear responsibility, allowing the platform to remain modular, testable, and replaceable.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897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AD67D-C744-B0D4-AAA6-2001B3A01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E1A9269-3F60-4F95-D9C7-90EB0833450D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24BB1CC6-83C1-392C-1D24-F7F93D75A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77350" y="42067"/>
            <a:ext cx="6388174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48C1B77-2907-5BE7-F645-C977D9C6A5E9}"/>
              </a:ext>
            </a:extLst>
          </p:cNvPr>
          <p:cNvCxnSpPr/>
          <p:nvPr/>
        </p:nvCxnSpPr>
        <p:spPr>
          <a:xfrm>
            <a:off x="3162886" y="1090041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1338B19-E262-1A6B-94EE-E8A8C43C9E92}"/>
              </a:ext>
            </a:extLst>
          </p:cNvPr>
          <p:cNvSpPr/>
          <p:nvPr/>
        </p:nvSpPr>
        <p:spPr>
          <a:xfrm>
            <a:off x="4377762" y="1211685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582109-90C5-7CB2-71BF-90C306289C50}"/>
              </a:ext>
            </a:extLst>
          </p:cNvPr>
          <p:cNvSpPr txBox="1"/>
          <p:nvPr/>
        </p:nvSpPr>
        <p:spPr>
          <a:xfrm>
            <a:off x="180235" y="1659822"/>
            <a:ext cx="11815822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sz="3600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Dhayanidhi R S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DB17615-B064-2610-9383-D22C8F193C68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5395636-A41C-00B8-8125-C9D0FDD72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A7FEEE11-5050-9A2F-2B74-A82F06CA3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022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DB4F5-782B-CED1-8F5C-E3284AA4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C358CE-C16C-8A5A-ABDE-83B17805CD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274" y="1271219"/>
            <a:ext cx="11753011" cy="5325520"/>
          </a:xfrm>
        </p:spPr>
        <p:txBody>
          <a:bodyPr/>
          <a:lstStyle/>
          <a:p>
            <a:pPr algn="just" fontAlgn="t">
              <a:lnSpc>
                <a:spcPct val="150000"/>
              </a:lnSpc>
              <a:buNone/>
            </a:pPr>
            <a:r>
              <a:rPr lang="en-IN" sz="2500" dirty="0">
                <a:latin typeface="+mn-lt"/>
              </a:rPr>
              <a:t>Background</a:t>
            </a:r>
          </a:p>
          <a:p>
            <a:pPr lvl="1" algn="just">
              <a:lnSpc>
                <a:spcPct val="100000"/>
              </a:lnSpc>
            </a:pPr>
            <a:r>
              <a:rPr lang="en-IN" b="0" dirty="0">
                <a:solidFill>
                  <a:schemeClr val="tx1"/>
                </a:solidFill>
              </a:rPr>
              <a:t>Modern AI training and inference depend on costly, long-running GPU clusters</a:t>
            </a:r>
            <a:r>
              <a:rPr lang="en-IN" dirty="0"/>
              <a:t> where </a:t>
            </a:r>
            <a:r>
              <a:rPr lang="en-IN" b="0" dirty="0">
                <a:solidFill>
                  <a:schemeClr val="tx1"/>
                </a:solidFill>
              </a:rPr>
              <a:t>thermal, memory, power, </a:t>
            </a:r>
            <a:r>
              <a:rPr lang="en-IN" dirty="0"/>
              <a:t>hardware</a:t>
            </a:r>
            <a:r>
              <a:rPr lang="en-IN" b="0" dirty="0">
                <a:solidFill>
                  <a:schemeClr val="tx1"/>
                </a:solidFill>
              </a:rPr>
              <a:t> and interconnect issues can reduce throughput, interrupt workloads</a:t>
            </a:r>
            <a:r>
              <a:rPr lang="en-IN" dirty="0"/>
              <a:t> </a:t>
            </a:r>
            <a:r>
              <a:rPr lang="en-IN" b="0" dirty="0">
                <a:solidFill>
                  <a:schemeClr val="tx1"/>
                </a:solidFill>
              </a:rPr>
              <a:t>and waste compute capacity.</a:t>
            </a:r>
          </a:p>
          <a:p>
            <a:pPr lvl="1" algn="just">
              <a:lnSpc>
                <a:spcPct val="100000"/>
              </a:lnSpc>
            </a:pPr>
            <a:r>
              <a:rPr lang="en-IN" dirty="0"/>
              <a:t>Existing monitoring platforms expose these failures as technical metrics, but understanding the workload impact, probable cause, and correct recovery action still requires expert manual analysis.</a:t>
            </a:r>
            <a:endParaRPr lang="en-IN" b="0" dirty="0">
              <a:solidFill>
                <a:schemeClr val="tx1"/>
              </a:solidFill>
            </a:endParaRPr>
          </a:p>
          <a:p>
            <a:pPr algn="just" fontAlgn="t">
              <a:lnSpc>
                <a:spcPct val="150000"/>
              </a:lnSpc>
              <a:buNone/>
            </a:pPr>
            <a:r>
              <a:rPr lang="en-IN" sz="2500" dirty="0">
                <a:latin typeface="+mn-lt"/>
              </a:rPr>
              <a:t>Proposed System</a:t>
            </a:r>
          </a:p>
          <a:p>
            <a:pPr lvl="1" algn="just" fontAlgn="t">
              <a:lnSpc>
                <a:spcPct val="100000"/>
              </a:lnSpc>
            </a:pPr>
            <a:r>
              <a:rPr lang="en-IN" b="1" dirty="0"/>
              <a:t>ClusterMind</a:t>
            </a:r>
            <a:r>
              <a:rPr lang="en-IN" dirty="0"/>
              <a:t> is an end-to-end GPU assurance platform that collects telemetry, detects anomalous </a:t>
            </a:r>
            <a:r>
              <a:rPr lang="en-IN" dirty="0" err="1"/>
              <a:t>behavior</a:t>
            </a:r>
            <a:r>
              <a:rPr lang="en-IN" dirty="0"/>
              <a:t>, evaluates workload impact, and coordinates four specialized agents to diagnose the probable cause and recommend recovery.</a:t>
            </a:r>
          </a:p>
          <a:p>
            <a:pPr lvl="1" algn="just" fontAlgn="t">
              <a:lnSpc>
                <a:spcPct val="150000"/>
              </a:lnSpc>
            </a:pPr>
            <a:endParaRPr lang="en-IN" b="0" dirty="0">
              <a:solidFill>
                <a:schemeClr val="tx1"/>
              </a:solidFill>
            </a:endParaRPr>
          </a:p>
          <a:p>
            <a:pPr algn="just" fontAlgn="t">
              <a:lnSpc>
                <a:spcPct val="150000"/>
              </a:lnSpc>
              <a:buNone/>
            </a:pPr>
            <a:endParaRPr lang="en-US" sz="2500" b="0" dirty="0">
              <a:solidFill>
                <a:srgbClr val="5583D1"/>
              </a:solidFill>
              <a:latin typeface="+mn-lt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5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9D974-EEFA-301A-100C-0E737545670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4106A8-C4CC-2E45-C327-C3D8A90C10D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3CB1B7B-FEC5-65E1-9A64-665B86CD3F0B}"/>
              </a:ext>
            </a:extLst>
          </p:cNvPr>
          <p:cNvSpPr txBox="1"/>
          <p:nvPr/>
        </p:nvSpPr>
        <p:spPr>
          <a:xfrm>
            <a:off x="4637315" y="57036"/>
            <a:ext cx="7554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470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34637"/>
            <a:ext cx="11674746" cy="5438303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Detect abnormal GPU </a:t>
            </a:r>
            <a:r>
              <a:rPr lang="en-IN" b="0" dirty="0" err="1">
                <a:solidFill>
                  <a:schemeClr val="tx1"/>
                </a:solidFill>
                <a:latin typeface="+mn-lt"/>
              </a:rPr>
              <a:t>behavior</a:t>
            </a:r>
            <a:r>
              <a:rPr lang="en-IN" b="0" dirty="0">
                <a:solidFill>
                  <a:schemeClr val="tx1"/>
                </a:solidFill>
                <a:latin typeface="+mn-lt"/>
              </a:rPr>
              <a:t> from correlated telemetry.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Measure the impact on training and inference workloads.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Identify probable root causes using evidence and runbooks.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Generate safe, checkpoint-aware recovery recommendations.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Keep infrastructure-changing actions behind human approval.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Provide end-to-end monitoring, tracing, and operator visibility.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4582887" y="57036"/>
            <a:ext cx="76091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75812-2CCD-EC0F-A218-F1286260C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A1DE37-996E-FC5B-65EA-C5CD20464F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96519" cy="5379947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Detect abnormal GPU behavior using machine-learning and rule-based methods.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Correlate hardware anomalies with workload performance and operational impact.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Use multiple specialized agents for telemetry analysis, impact assessment, root-cause analysis, and recovery planning.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Produce evidence-based, explainable recovery recommendations and require human approval before any high-risk recovery action.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Process incident analysis asynchronously using </a:t>
            </a:r>
            <a:r>
              <a:rPr lang="en-US" sz="2400" b="0" dirty="0" err="1">
                <a:solidFill>
                  <a:schemeClr val="tx1"/>
                </a:solidFill>
                <a:latin typeface="+mn-lt"/>
              </a:rPr>
              <a:t>FastAPI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, Celery, Redis, </a:t>
            </a:r>
            <a:r>
              <a:rPr lang="en-US" sz="2400" b="0" dirty="0" err="1">
                <a:solidFill>
                  <a:schemeClr val="tx1"/>
                </a:solidFill>
                <a:latin typeface="+mn-lt"/>
              </a:rPr>
              <a:t>LangGraph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, and PostgreSQL.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Provide workflow tracking, audit records, automated recovery, notifications, health checks, and observability.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Maintain a vendor-neutral design for future NVIDIA, AMD, and Intel telemetry integration.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D10994-A580-EE2C-EE5C-766B69C79A0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DB9207-83F6-E91A-E981-569DBAEC048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19774EC-DDC7-A461-6827-6514936E9EC1}"/>
              </a:ext>
            </a:extLst>
          </p:cNvPr>
          <p:cNvSpPr txBox="1"/>
          <p:nvPr/>
        </p:nvSpPr>
        <p:spPr>
          <a:xfrm>
            <a:off x="4886201" y="57036"/>
            <a:ext cx="7305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ClusterMind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555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40991-110C-672D-5C58-9DE583BDA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2BED72-229B-1C5E-A71E-D3A76F9247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52975" cy="5358176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+mn-lt"/>
              </a:rPr>
              <a:t>GPU Reliability and Failure Prediction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Liu et al. demonstrated high-precision GPU failure prediction under deep-learning workloads using operational telemetry [1].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Holmes localized irregularities in mega-scale LLM training clusters by correlating distributed training signals [2].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400" b="0" dirty="0">
              <a:solidFill>
                <a:schemeClr val="tx1"/>
              </a:solidFill>
              <a:latin typeface="+mn-lt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+mn-lt"/>
              </a:rPr>
              <a:t>GPU Workloads and Failure Recovery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Weng et al. analyzed heterogeneous production GPU workloads and highlighted the importance of workload-aware scheduling [3].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Sibylla studied whether failed deep-learning jobs should be retried, emphasizing context-aware recovery decisions [4].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22578-1842-8C86-E8AE-B0106392939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85A8C-82C6-AF7B-7BD5-88D72F41E8E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2EB1A73-E579-5C3E-92D2-389783DD154F}"/>
              </a:ext>
            </a:extLst>
          </p:cNvPr>
          <p:cNvSpPr txBox="1"/>
          <p:nvPr/>
        </p:nvSpPr>
        <p:spPr>
          <a:xfrm>
            <a:off x="3907971" y="57036"/>
            <a:ext cx="8284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ClusterMind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057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E1CB0-761B-2A2E-86FF-4730D4F20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0797A3-5D1E-028B-D311-6546375252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52975" cy="5358176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+mn-lt"/>
              </a:rPr>
              <a:t>AI-Assisted Root-Cause Analysis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LLM-based cloud incident RCA demonstrated the potential of language models for interpreting operational evidence [5].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RCAgent used autonomous, tool-augmented agents for cloud root-cause analysis [6].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Agent-based RCA studies identified both the potential and reliability challenges of LLM-driven diagnosis [7], [8].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+mn-lt"/>
              </a:rPr>
              <a:t>Multi-Agent and Observability Foundations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Multi-agent research highlights specialization, collaboration, tool use, and coordination challenges [9].</a:t>
            </a:r>
          </a:p>
          <a:p>
            <a:pPr algn="just"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Distributed-tracing research emphasizes correlation, scalability, and explainability in automated operational analysis [10].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BA6566-0947-B49E-B123-8A0A34EECC6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95D9DFE-3062-16C1-9A36-05F3550C2E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9E0F381-EA1C-EF14-F292-B1471C9D6D9D}"/>
              </a:ext>
            </a:extLst>
          </p:cNvPr>
          <p:cNvSpPr txBox="1"/>
          <p:nvPr/>
        </p:nvSpPr>
        <p:spPr>
          <a:xfrm>
            <a:off x="3907971" y="57036"/>
            <a:ext cx="8284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ClusterMind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737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44545-851F-8449-DDF2-BA2812670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B4579A-846C-405C-B3A1-9E799C0222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52975" cy="5412607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+mn-lt"/>
              </a:rPr>
              <a:t>Key Findings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GPU failure prediction is feasible when hardware telemetry and historical behavior are analyzed together [1].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Large-scale training failures require correlation across GPUs, nodes, networks, and distributed workloads [2].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Recovery decisions should consider workload type, checkpoint availability, resource placement, and retry cost [3], [4].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LLMs and autonomous agents can improve root-cause analysis, but outputs require evidence grounding, confidence estimation, and safety controls [5]–[9].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Distributed telemetry and tracing are essential for reconstructing incident timelines and identifying causal relationships [10].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AC4519-945D-CFF9-7334-D82E7D273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C9C79BC-8EAC-900C-E559-1EA29F816C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3A45446-F4B0-30EB-B2EB-D5309AE50FF7}"/>
              </a:ext>
            </a:extLst>
          </p:cNvPr>
          <p:cNvSpPr txBox="1"/>
          <p:nvPr/>
        </p:nvSpPr>
        <p:spPr>
          <a:xfrm>
            <a:off x="4886203" y="57036"/>
            <a:ext cx="7305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ClusterMind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106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6E121-D943-DBD3-C89B-7B916B434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43B349-4C10-EB0F-7751-379460AE8E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52975" cy="5412607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C4D98"/>
                </a:solidFill>
                <a:latin typeface="+mn-lt"/>
              </a:rPr>
              <a:t>Identified Research Gap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Existing studies usually address failure prediction, workload scheduling, root-cause analysis, or retry decisions separately.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 err="1">
                <a:solidFill>
                  <a:srgbClr val="1C4D98"/>
                </a:solidFill>
                <a:latin typeface="+mn-lt"/>
              </a:rPr>
              <a:t>ClusterMind</a:t>
            </a:r>
            <a:r>
              <a:rPr lang="en-US" sz="2400" dirty="0">
                <a:solidFill>
                  <a:srgbClr val="1C4D98"/>
                </a:solidFill>
                <a:latin typeface="+mn-lt"/>
              </a:rPr>
              <a:t> Contribution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0" dirty="0" err="1">
                <a:solidFill>
                  <a:schemeClr val="tx1"/>
                </a:solidFill>
                <a:latin typeface="+mn-lt"/>
              </a:rPr>
              <a:t>ClusterMind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 combines these capabilities into one durable workflow: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C4D98"/>
                </a:solidFill>
                <a:latin typeface="+mn-lt"/>
              </a:rPr>
              <a:t>Telemetry → Detection → Impact Analysis → Root Cause → Recovery Plan → Human Approval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The proposed system emphasizes explainability, workload awareness, asynchronous execution, deterministic fallbacks, and human-governed recovery.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138223-3FCB-844E-0293-F4F698DACB33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771C2F-B6F4-835C-1BAB-51C281519F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59019BB-E27C-5A31-FBD7-B22871806218}"/>
              </a:ext>
            </a:extLst>
          </p:cNvPr>
          <p:cNvSpPr txBox="1"/>
          <p:nvPr/>
        </p:nvSpPr>
        <p:spPr>
          <a:xfrm>
            <a:off x="4886203" y="57036"/>
            <a:ext cx="7305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ClusterMind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382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5256B-65D2-E739-0849-D1F9808D1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464028-09DF-88F5-7508-3850B336B7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631204" cy="5412607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C4D98"/>
                </a:solidFill>
                <a:latin typeface="+mn-lt"/>
              </a:rPr>
              <a:t>Technology Stack</a:t>
            </a:r>
          </a:p>
          <a:p>
            <a:pPr>
              <a:lnSpc>
                <a:spcPct val="100000"/>
              </a:lnSpc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Backend: Python, </a:t>
            </a:r>
            <a:r>
              <a:rPr lang="en-US" sz="2200" b="0" dirty="0" err="1">
                <a:solidFill>
                  <a:schemeClr val="tx1"/>
                </a:solidFill>
                <a:latin typeface="+mn-lt"/>
              </a:rPr>
              <a:t>FastAPI</a:t>
            </a:r>
            <a:r>
              <a:rPr lang="en-US" sz="22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2200" b="0" dirty="0" err="1">
                <a:solidFill>
                  <a:schemeClr val="tx1"/>
                </a:solidFill>
                <a:latin typeface="+mn-lt"/>
              </a:rPr>
              <a:t>LangGraph</a:t>
            </a:r>
            <a:r>
              <a:rPr lang="en-US" sz="2200" b="0" dirty="0">
                <a:solidFill>
                  <a:schemeClr val="tx1"/>
                </a:solidFill>
                <a:latin typeface="+mn-lt"/>
              </a:rPr>
              <a:t>, Celery and Redis</a:t>
            </a:r>
          </a:p>
          <a:p>
            <a:pPr>
              <a:lnSpc>
                <a:spcPct val="100000"/>
              </a:lnSpc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Persistence: PostgreSQL, </a:t>
            </a:r>
            <a:r>
              <a:rPr lang="en-US" sz="2200" b="0" dirty="0" err="1">
                <a:solidFill>
                  <a:schemeClr val="tx1"/>
                </a:solidFill>
                <a:latin typeface="+mn-lt"/>
              </a:rPr>
              <a:t>SQLAlchemy</a:t>
            </a:r>
            <a:r>
              <a:rPr lang="en-US" sz="2200" b="0" dirty="0">
                <a:solidFill>
                  <a:schemeClr val="tx1"/>
                </a:solidFill>
                <a:latin typeface="+mn-lt"/>
              </a:rPr>
              <a:t> and Alembic</a:t>
            </a:r>
          </a:p>
          <a:p>
            <a:pPr>
              <a:lnSpc>
                <a:spcPct val="100000"/>
              </a:lnSpc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Machine Learning: Isolation Forest with deterministic rule-based fallbacks</a:t>
            </a:r>
          </a:p>
          <a:p>
            <a:pPr>
              <a:lnSpc>
                <a:spcPct val="100000"/>
              </a:lnSpc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Observability: Prometheus, </a:t>
            </a:r>
            <a:r>
              <a:rPr lang="en-US" sz="2200" b="0" dirty="0" err="1">
                <a:solidFill>
                  <a:schemeClr val="tx1"/>
                </a:solidFill>
                <a:latin typeface="+mn-lt"/>
              </a:rPr>
              <a:t>OpenTelemetry</a:t>
            </a:r>
            <a:r>
              <a:rPr lang="en-US" sz="2200" b="0" dirty="0">
                <a:solidFill>
                  <a:schemeClr val="tx1"/>
                </a:solidFill>
                <a:latin typeface="+mn-lt"/>
              </a:rPr>
              <a:t>, Jaeger and </a:t>
            </a:r>
            <a:r>
              <a:rPr lang="en-US" sz="2200" b="0" dirty="0" err="1">
                <a:solidFill>
                  <a:schemeClr val="tx1"/>
                </a:solidFill>
                <a:latin typeface="+mn-lt"/>
              </a:rPr>
              <a:t>InfluxDB</a:t>
            </a:r>
            <a:r>
              <a:rPr lang="en-US" sz="2200" b="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2200" b="0" dirty="0" err="1">
                <a:solidFill>
                  <a:schemeClr val="tx1"/>
                </a:solidFill>
                <a:latin typeface="+mn-lt"/>
              </a:rPr>
              <a:t>ntfy</a:t>
            </a:r>
            <a:endParaRPr lang="en-US" sz="22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Interface: </a:t>
            </a:r>
            <a:r>
              <a:rPr lang="en-US" sz="2200" b="0" dirty="0" err="1">
                <a:solidFill>
                  <a:schemeClr val="tx1"/>
                </a:solidFill>
                <a:latin typeface="+mn-lt"/>
              </a:rPr>
              <a:t>Streamlit</a:t>
            </a:r>
            <a:r>
              <a:rPr lang="en-US" sz="2200" b="0" dirty="0">
                <a:solidFill>
                  <a:schemeClr val="tx1"/>
                </a:solidFill>
                <a:latin typeface="+mn-lt"/>
              </a:rPr>
              <a:t> and Grafana</a:t>
            </a:r>
          </a:p>
          <a:p>
            <a:pPr>
              <a:lnSpc>
                <a:spcPct val="100000"/>
              </a:lnSpc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DevOps: Docker Compose with </a:t>
            </a:r>
            <a:r>
              <a:rPr lang="en-US" sz="2200" b="0" dirty="0" err="1">
                <a:solidFill>
                  <a:schemeClr val="tx1"/>
                </a:solidFill>
                <a:latin typeface="+mn-lt"/>
              </a:rPr>
              <a:t>Github</a:t>
            </a:r>
            <a:r>
              <a:rPr lang="en-US" sz="2200" b="0" dirty="0">
                <a:solidFill>
                  <a:schemeClr val="tx1"/>
                </a:solidFill>
                <a:latin typeface="+mn-lt"/>
              </a:rPr>
              <a:t> Action CI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C4D98"/>
                </a:solidFill>
                <a:latin typeface="+mn-lt"/>
              </a:rPr>
              <a:t>Future Extensions</a:t>
            </a:r>
          </a:p>
          <a:p>
            <a:pPr>
              <a:lnSpc>
                <a:spcPct val="100000"/>
              </a:lnSpc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NVIDIA DCGM, AMD SMI and Intel Level Zero telemetry</a:t>
            </a:r>
          </a:p>
          <a:p>
            <a:pPr>
              <a:lnSpc>
                <a:spcPct val="100000"/>
              </a:lnSpc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Kubernetes and </a:t>
            </a:r>
            <a:r>
              <a:rPr lang="en-US" sz="2200" b="0" dirty="0" err="1">
                <a:solidFill>
                  <a:schemeClr val="tx1"/>
                </a:solidFill>
                <a:latin typeface="+mn-lt"/>
              </a:rPr>
              <a:t>Slurm</a:t>
            </a:r>
            <a:r>
              <a:rPr lang="en-US" sz="2200" b="0" dirty="0">
                <a:solidFill>
                  <a:schemeClr val="tx1"/>
                </a:solidFill>
                <a:latin typeface="+mn-lt"/>
              </a:rPr>
              <a:t> workload correlation</a:t>
            </a:r>
          </a:p>
          <a:p>
            <a:pPr>
              <a:lnSpc>
                <a:spcPct val="100000"/>
              </a:lnSpc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Policy-governed recovery execution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54F27-53BC-B5DE-6077-C3ADDD8659E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F9EF01-74EE-42BF-E6E8-FAEE846099F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4715EA-FC8F-9545-6013-316EDE2C9DDD}"/>
              </a:ext>
            </a:extLst>
          </p:cNvPr>
          <p:cNvSpPr txBox="1"/>
          <p:nvPr/>
        </p:nvSpPr>
        <p:spPr>
          <a:xfrm>
            <a:off x="4886201" y="57036"/>
            <a:ext cx="7305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ClusterMind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71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85633" cy="543437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5583D1"/>
                </a:solidFill>
                <a:latin typeface="+mn-lt"/>
              </a:rPr>
              <a:t>GPU Telemetry and Simulation</a:t>
            </a:r>
          </a:p>
          <a:p>
            <a:pPr>
              <a:lnSpc>
                <a:spcPct val="100000"/>
              </a:lnSpc>
            </a:pP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Generates correlated GPU, node, workload, and incident telemetry for a 40-GPU synthetic cluster.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sz="2200" dirty="0">
                <a:highlight>
                  <a:srgbClr val="FFFFFF"/>
                </a:highlight>
                <a:latin typeface="+mn-lt"/>
              </a:rPr>
              <a:t>Anomaly Detection</a:t>
            </a:r>
          </a:p>
          <a:p>
            <a:pPr fontAlgn="t">
              <a:lnSpc>
                <a:spcPct val="100000"/>
              </a:lnSpc>
            </a:pP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Uses Isolation Forest and deterministic hardware rules to identify candidate GPU anomalies.</a:t>
            </a:r>
            <a:endParaRPr lang="en-IN" sz="2200" b="0" dirty="0">
              <a:highlight>
                <a:srgbClr val="FFFFFF"/>
              </a:highlight>
              <a:latin typeface="+mn-lt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n-IN" sz="2200" dirty="0">
                <a:highlight>
                  <a:srgbClr val="FFFFFF"/>
                </a:highlight>
                <a:latin typeface="+mn-lt"/>
              </a:rPr>
              <a:t>Multi-Agent Intelligence</a:t>
            </a:r>
          </a:p>
          <a:p>
            <a:pPr fontAlgn="t">
              <a:lnSpc>
                <a:spcPct val="100000"/>
              </a:lnSpc>
            </a:pP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Coordinates Telemetry, Workload Impact, Root Cause, and Recovery Agents through </a:t>
            </a:r>
            <a:r>
              <a:rPr lang="en-IN" sz="2200" b="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LangGraph</a:t>
            </a: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.</a:t>
            </a:r>
            <a:endParaRPr lang="en-IN" sz="2200" b="0" dirty="0">
              <a:highlight>
                <a:srgbClr val="FFFFFF"/>
              </a:highlight>
              <a:latin typeface="+mn-lt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n-IN" sz="2200" dirty="0">
                <a:highlight>
                  <a:srgbClr val="FFFFFF"/>
                </a:highlight>
                <a:latin typeface="+mn-lt"/>
              </a:rPr>
              <a:t>Human Approval and Recovery</a:t>
            </a:r>
          </a:p>
          <a:p>
            <a:pPr fontAlgn="t">
              <a:lnSpc>
                <a:spcPct val="100000"/>
              </a:lnSpc>
            </a:pP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Presents evidence-backed recovery plans before any migration, restart, or quarantine action.</a:t>
            </a:r>
            <a:endParaRPr lang="en-IN" sz="2200" b="0" dirty="0">
              <a:highlight>
                <a:srgbClr val="FFFFFF"/>
              </a:highlight>
              <a:latin typeface="+mn-lt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n-IN" sz="2200" dirty="0">
                <a:highlight>
                  <a:srgbClr val="FFFFFF"/>
                </a:highlight>
                <a:latin typeface="+mn-lt"/>
              </a:rPr>
              <a:t>Operations and Observability</a:t>
            </a:r>
          </a:p>
          <a:p>
            <a:pPr fontAlgn="t">
              <a:lnSpc>
                <a:spcPct val="100000"/>
              </a:lnSpc>
            </a:pP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Combines Streamlit, Grafana, </a:t>
            </a:r>
            <a:r>
              <a:rPr lang="en-IN" sz="2200" b="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InfluxDB</a:t>
            </a: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, Prometheus, </a:t>
            </a:r>
            <a:r>
              <a:rPr lang="en-IN" sz="2200" b="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OpenTelemetry</a:t>
            </a: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, Jaeger, Redis, Celery, and </a:t>
            </a:r>
            <a:r>
              <a:rPr lang="en-IN" sz="2200" b="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ntfy</a:t>
            </a: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b="0" dirty="0">
              <a:solidFill>
                <a:srgbClr val="242424"/>
              </a:solidFill>
              <a:highlight>
                <a:srgbClr val="FFFFFF"/>
              </a:highlight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4886201" y="57036"/>
            <a:ext cx="7305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978</Words>
  <Application>Microsoft Office PowerPoint</Application>
  <PresentationFormat>Widescreen</PresentationFormat>
  <Paragraphs>108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Arial</vt:lpstr>
      <vt:lpstr>Calibri</vt:lpstr>
      <vt:lpstr>Calibri (Body)</vt:lpstr>
      <vt:lpstr>Frutiger 45 bold</vt:lpstr>
      <vt:lpstr>Frutiger LT Pro 45 Light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Dhayanidhi RS</cp:lastModifiedBy>
  <cp:revision>25</cp:revision>
  <dcterms:created xsi:type="dcterms:W3CDTF">2024-05-13T10:33:11Z</dcterms:created>
  <dcterms:modified xsi:type="dcterms:W3CDTF">2026-10-13T08:39:16Z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