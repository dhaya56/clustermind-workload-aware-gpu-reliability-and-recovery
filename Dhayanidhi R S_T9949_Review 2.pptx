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70505" r:id="rId2"/>
    <p:sldId id="2147470507" r:id="rId3"/>
    <p:sldId id="2147470493" r:id="rId4"/>
    <p:sldId id="2147470487" r:id="rId5"/>
    <p:sldId id="2147470501" r:id="rId6"/>
    <p:sldId id="2147470523" r:id="rId7"/>
    <p:sldId id="2147470511" r:id="rId8"/>
    <p:sldId id="2147470524" r:id="rId9"/>
    <p:sldId id="2147470513" r:id="rId10"/>
    <p:sldId id="2147470525" r:id="rId11"/>
    <p:sldId id="214747051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54920-2D1F-49CB-A53B-B014825A512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CC0A4C-0812-464E-B0CA-E60B3F6FC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9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detects GPU degradation, explains its workload impact, identifies the probable cause, and recommends a safe recovery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75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ClusterMind converts raw GPU telemetry into an understandable incident explanation and a controlled recovery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345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objective is not only anomaly detection. The system must explain what happened, why it matters, and what should be done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215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Each module has one clear responsibility, allowing the platform to remain modular, testable, and 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97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methodology separates deterministic detection, agent reasoning, and human authorization rather than allowing one model to control the entire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015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15DF-9F98-7EA6-B1D2-9CAEAC02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69CB9-E757-50F2-450E-F8F928854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DB871-0CAA-A149-DD13-17476B842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methodology separates deterministic detection, agent reasoning, and human authorization rather than allowing one model to control the entire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861D-215A-1AEF-AA96-9A519ADE7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182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The entire implementation is open-source and locally deployable through an isolated Docker Compose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145041-4B97-4394-AFDC-A96C4B2AF6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284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C0A4C-0812-464E-B0CA-E60B3F6FCF8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29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657D-CBE7-736F-E86E-C227B56B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15F27-9647-B1DB-2906-F648F2B07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53B0E-106E-1F86-A174-A02E2456B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758C6-D3AA-3B9F-7103-8684430DC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CC0A4C-0812-464E-B0CA-E60B3F6FCF8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52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D67D-C744-B0D4-AAA6-2001B3A0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1A9269-3F60-4F95-D9C7-90EB0833450D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4BB1CC6-83C1-392C-1D24-F7F93D75A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77350" y="42067"/>
            <a:ext cx="6388174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8C1B77-2907-5BE7-F645-C977D9C6A5E9}"/>
              </a:ext>
            </a:extLst>
          </p:cNvPr>
          <p:cNvCxnSpPr/>
          <p:nvPr/>
        </p:nvCxnSpPr>
        <p:spPr>
          <a:xfrm>
            <a:off x="3162886" y="109004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338B19-E262-1A6B-94EE-E8A8C43C9E92}"/>
              </a:ext>
            </a:extLst>
          </p:cNvPr>
          <p:cNvSpPr/>
          <p:nvPr/>
        </p:nvSpPr>
        <p:spPr>
          <a:xfrm>
            <a:off x="4377762" y="121168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82109-90C5-7CB2-71BF-90C306289C50}"/>
              </a:ext>
            </a:extLst>
          </p:cNvPr>
          <p:cNvSpPr txBox="1"/>
          <p:nvPr/>
        </p:nvSpPr>
        <p:spPr>
          <a:xfrm>
            <a:off x="180235" y="1659822"/>
            <a:ext cx="11815822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sz="3600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Dhayanidhi R 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B17615-B064-2610-9383-D22C8F193C68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5395636-A41C-00B8-8125-C9D0FDD7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A7FEEE11-5050-9A2F-2B74-A82F06CA3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2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B4F5-782B-CED1-8F5C-E3284AA4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C358CE-C16C-8A5A-ABDE-83B17805CD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271219"/>
            <a:ext cx="11753011" cy="5325520"/>
          </a:xfrm>
        </p:spPr>
        <p:txBody>
          <a:bodyPr/>
          <a:lstStyle/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Background</a:t>
            </a:r>
          </a:p>
          <a:p>
            <a:pPr lvl="1" algn="just">
              <a:lnSpc>
                <a:spcPct val="100000"/>
              </a:lnSpc>
            </a:pPr>
            <a:r>
              <a:rPr lang="en-IN" b="0" dirty="0">
                <a:solidFill>
                  <a:schemeClr val="tx1"/>
                </a:solidFill>
              </a:rPr>
              <a:t>Modern AI training and inference depend on costly, long-running GPU clusters</a:t>
            </a:r>
            <a:r>
              <a:rPr lang="en-IN" dirty="0"/>
              <a:t> where </a:t>
            </a:r>
            <a:r>
              <a:rPr lang="en-IN" b="0" dirty="0">
                <a:solidFill>
                  <a:schemeClr val="tx1"/>
                </a:solidFill>
              </a:rPr>
              <a:t>thermal, memory, power, </a:t>
            </a:r>
            <a:r>
              <a:rPr lang="en-IN" dirty="0"/>
              <a:t>hardware</a:t>
            </a:r>
            <a:r>
              <a:rPr lang="en-IN" b="0" dirty="0">
                <a:solidFill>
                  <a:schemeClr val="tx1"/>
                </a:solidFill>
              </a:rPr>
              <a:t> and interconnect issues can reduce throughput, interrupt workloads</a:t>
            </a:r>
            <a:r>
              <a:rPr lang="en-IN" dirty="0"/>
              <a:t> </a:t>
            </a:r>
            <a:r>
              <a:rPr lang="en-IN" b="0" dirty="0">
                <a:solidFill>
                  <a:schemeClr val="tx1"/>
                </a:solidFill>
              </a:rPr>
              <a:t>and waste compute capacity.</a:t>
            </a:r>
          </a:p>
          <a:p>
            <a:pPr lvl="1" algn="just">
              <a:lnSpc>
                <a:spcPct val="100000"/>
              </a:lnSpc>
            </a:pPr>
            <a:r>
              <a:rPr lang="en-IN" dirty="0"/>
              <a:t>Existing monitoring platforms expose these failures as technical metrics, but understanding the workload impact, probable cause, and correct recovery action still requires expert manual analysis.</a:t>
            </a: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r>
              <a:rPr lang="en-IN" sz="2500" dirty="0">
                <a:latin typeface="+mn-lt"/>
              </a:rPr>
              <a:t>Proposed System</a:t>
            </a:r>
          </a:p>
          <a:p>
            <a:pPr lvl="1" algn="just" fontAlgn="t">
              <a:lnSpc>
                <a:spcPct val="100000"/>
              </a:lnSpc>
            </a:pPr>
            <a:r>
              <a:rPr lang="en-IN" b="1" dirty="0"/>
              <a:t>ClusterMind</a:t>
            </a:r>
            <a:r>
              <a:rPr lang="en-IN" dirty="0"/>
              <a:t> is an end-to-end GPU assurance platform that collects telemetry, detects anomalous </a:t>
            </a:r>
            <a:r>
              <a:rPr lang="en-IN" dirty="0" err="1"/>
              <a:t>behavior</a:t>
            </a:r>
            <a:r>
              <a:rPr lang="en-IN" dirty="0"/>
              <a:t>, evaluates workload impact, and coordinates four specialized agents to diagnose the probable cause and recommend recovery.</a:t>
            </a:r>
          </a:p>
          <a:p>
            <a:pPr lvl="1" algn="just" fontAlgn="t">
              <a:lnSpc>
                <a:spcPct val="150000"/>
              </a:lnSpc>
            </a:pPr>
            <a:endParaRPr lang="en-IN" b="0" dirty="0">
              <a:solidFill>
                <a:schemeClr val="tx1"/>
              </a:solidFill>
            </a:endParaRPr>
          </a:p>
          <a:p>
            <a:pPr algn="just" fontAlgn="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9D974-EEFA-301A-100C-0E737545670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4106A8-C4CC-2E45-C327-C3D8A90C10D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CB1B7B-FEC5-65E1-9A64-665B86CD3F0B}"/>
              </a:ext>
            </a:extLst>
          </p:cNvPr>
          <p:cNvSpPr txBox="1"/>
          <p:nvPr/>
        </p:nvSpPr>
        <p:spPr>
          <a:xfrm>
            <a:off x="4637315" y="57036"/>
            <a:ext cx="7554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70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11674746" cy="543830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Detect abnormal GPU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behavior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from correlated telemetry.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Measure the impact on training and inference workloads.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Identify probable root causes using evidence and runbooks.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Generate safe, checkpoint-aware recovery recommendations.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Keep infrastructure-changing actions behind human approval.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1"/>
                </a:solidFill>
                <a:latin typeface="+mn-lt"/>
              </a:rPr>
              <a:t>Provide end-to-end monitoring, tracing, and operator visibility.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582887" y="57036"/>
            <a:ext cx="7609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85633" cy="543437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583D1"/>
                </a:solidFill>
                <a:latin typeface="+mn-lt"/>
              </a:rPr>
              <a:t>GPU Telemetry and Simulation</a:t>
            </a:r>
          </a:p>
          <a:p>
            <a:pPr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Generates correlated GPU, node, workload, and incident telemetry for a 40-GPU synthetic cluster.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Anomaly Detection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Uses Isolation Forest and deterministic hardware rules to identify candidate GPU anomalies.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Multi-Agent Intelligence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Coordinates Telemetry, Workload Impact, Root Cause, and Recovery Agents through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LangGraph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Human Approval and Recovery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Presents evidence-backed recovery plans before any migration, restart, or quarantine action.</a:t>
            </a:r>
            <a:endParaRPr lang="en-IN" sz="2200" b="0" dirty="0">
              <a:highlight>
                <a:srgbClr val="FFFFFF"/>
              </a:highlight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2200" dirty="0">
                <a:highlight>
                  <a:srgbClr val="FFFFFF"/>
                </a:highlight>
                <a:latin typeface="+mn-lt"/>
              </a:rPr>
              <a:t>Operations and Observability</a:t>
            </a:r>
          </a:p>
          <a:p>
            <a:pPr fontAlgn="t">
              <a:lnSpc>
                <a:spcPct val="100000"/>
              </a:lnSpc>
            </a:pP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Combines Streamlit, Grafana,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InfluxDB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Prometheus,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OpenTelemetry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, Jaeger, Redis, Celery, and </a:t>
            </a:r>
            <a:r>
              <a:rPr lang="en-IN" sz="2200" b="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ntfy</a:t>
            </a:r>
            <a:r>
              <a:rPr lang="en-IN" sz="2200" b="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b="0" dirty="0">
              <a:solidFill>
                <a:srgbClr val="242424"/>
              </a:solidFill>
              <a:highlight>
                <a:srgbClr val="FFFFFF"/>
              </a:highlight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name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4886201" y="57036"/>
            <a:ext cx="7305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63861" cy="532552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D44D7-7C25-DC52-2783-9E1A90938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15" y="1234637"/>
            <a:ext cx="8643257" cy="55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D354-CFBC-27EC-D8EC-F0A39852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F2316F-19C5-A8AB-BD37-157C1826DADF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ACA2F-5905-E44A-C49D-DE7EE8DD9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73" y="631378"/>
            <a:ext cx="9416144" cy="56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5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66323-A42A-D6B0-34C9-C0515C35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B7FBB3-475F-25EF-88C6-C311E7CBF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63861" cy="544526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200" dirty="0">
                <a:latin typeface="+mn-lt"/>
              </a:rPr>
              <a:t>Preprocessing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Validated schemas, timestamps, identifiers and required fields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Removed invalid, non-finite and out-of-range values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Normalized timestamps and maintained incident windows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Preserved incident labels for evaluation while preventing label leakage during detection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200" dirty="0">
                <a:latin typeface="+mn-lt"/>
              </a:rPr>
              <a:t>EDA Findings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Reliability incidents produce correlated hardware and workload changes.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Thermal and power incidents reduce clocks and useful throughput.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Memory and link incidents increase latency and error rates.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Healthy high utilization differs from harmful anomalies through workload productivity.</a:t>
            </a:r>
          </a:p>
          <a:p>
            <a:pPr algn="just">
              <a:lnSpc>
                <a:spcPct val="100000"/>
              </a:lnSpc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Workload context is necessary to reduce false positives.</a:t>
            </a:r>
            <a:endParaRPr lang="en-US" sz="22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E5E86-D886-708F-A044-7B56646123E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D9194D-AE62-553E-26EF-95819F2BC1D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6547608-A085-0A66-78EE-E35BDF3ACD17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0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33DA-6F85-7C1A-C9A5-A5CB1900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2E3219-9D2E-697F-2FF0-90778E1290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74747" cy="53908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Data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Synthetic GPU cluster, workload telemetry, incident labels,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InfluxDB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OSS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Detection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StandardScaler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Isolation Forest, ECC/XID/temperature safety overrides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Agent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LangGraph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with Telemetry, Workload Impact, Root Cause, Recovery Agents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Reasoning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Local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Ollama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model with structured prompts, runbooks, and evidence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Application Layer: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Streamlit operations console, Grafana technical dashboards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Execution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Redis, Celery, checkpoint-aware recovery, human approval,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ntfy</a:t>
            </a: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+mn-lt"/>
              </a:rPr>
              <a:t>Observability Layer: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Prometheus,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OpenTelemetry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, Jaeger, structured application metrics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05D9F-34AE-CE64-31FE-FEDB3E1B20B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47B84F-0EFB-25D6-4338-0A29B8DF882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8B281B7-E643-BAA4-B7B0-C39B6D8D03C0}"/>
              </a:ext>
            </a:extLst>
          </p:cNvPr>
          <p:cNvSpPr txBox="1"/>
          <p:nvPr/>
        </p:nvSpPr>
        <p:spPr>
          <a:xfrm>
            <a:off x="4452257" y="57036"/>
            <a:ext cx="7739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ClusterMind: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9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2829-831A-4ADA-073E-DBA3082F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D76B0-692A-BD45-8216-C3A004A4992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3E3E4F-90B3-9961-33D7-6997CD813FE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E2D81C-42D1-33E7-BEB1-AF7CE859F450}"/>
              </a:ext>
            </a:extLst>
          </p:cNvPr>
          <p:cNvSpPr txBox="1"/>
          <p:nvPr/>
        </p:nvSpPr>
        <p:spPr>
          <a:xfrm>
            <a:off x="4865913" y="57036"/>
            <a:ext cx="7326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7B2F67-F5C3-AEB1-39AD-17098A2B8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073320"/>
              </p:ext>
            </p:extLst>
          </p:nvPr>
        </p:nvGraphicFramePr>
        <p:xfrm>
          <a:off x="2120135" y="1512404"/>
          <a:ext cx="8127999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36045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198240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12928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 at Review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91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Problem identification and architecture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62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Synthetic GPU, node and workload telemetry generation with labelled incident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8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Data validation, preprocessing, exploratory data analysis and 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43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Isolation Forest model training, anomaly scoring and incident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45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74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5C59-5BF0-3E5D-279E-5817FA65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3389F-DBD4-7877-DD00-34FC37378FD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BFD58-3121-7438-6AD7-C8433C7F7E1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DBA2FC7-CC4E-209E-3641-395837B123D9}"/>
              </a:ext>
            </a:extLst>
          </p:cNvPr>
          <p:cNvSpPr txBox="1"/>
          <p:nvPr/>
        </p:nvSpPr>
        <p:spPr>
          <a:xfrm>
            <a:off x="4865913" y="57036"/>
            <a:ext cx="7326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E2A672-B4F6-A214-823E-1CF95B4DE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33712"/>
              </p:ext>
            </p:extLst>
          </p:nvPr>
        </p:nvGraphicFramePr>
        <p:xfrm>
          <a:off x="2120135" y="1512404"/>
          <a:ext cx="81279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36045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198240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12928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 at Review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91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Incident evidence collection and correlation of GPU, node and workload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Completed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62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Multi-agent workflow for GPU analysis, workload impact, root cause and recovery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Completed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8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LangGraph orchestration and explainable end-to-end incident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In Progress</a:t>
                      </a:r>
                      <a:endParaRPr lang="en-IN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43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Phase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Human approval workflow and recovery recommendation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en-IN" b="1" dirty="0">
                          <a:effectLst/>
                        </a:rPr>
                        <a:t>Planned</a:t>
                      </a:r>
                      <a:endParaRPr lang="en-IN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45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68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5457-835C-464B-2096-1DC96FB0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250E21-E431-DFCD-D14C-20E29A359D6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9F4D8-2B5C-40F4-1D36-43D8E12F90D1}"/>
              </a:ext>
            </a:extLst>
          </p:cNvPr>
          <p:cNvSpPr txBox="1"/>
          <p:nvPr/>
        </p:nvSpPr>
        <p:spPr>
          <a:xfrm>
            <a:off x="4886203" y="57036"/>
            <a:ext cx="7305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ClusterMind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  <a:r>
              <a:rPr lang="en-IN" b="1" dirty="0">
                <a:solidFill>
                  <a:schemeClr val="bg1"/>
                </a:solidFill>
              </a:rPr>
              <a:t>Multi-Agent GPU Workload Assurance and Recovery Platform</a:t>
            </a:r>
          </a:p>
          <a:p>
            <a:pPr algn="r"/>
            <a:endParaRPr lang="en-US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AEEA48-B990-EE14-BDC4-A9478BB3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6" y="1034796"/>
            <a:ext cx="8490857" cy="54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6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851</Words>
  <Application>Microsoft Office PowerPoint</Application>
  <PresentationFormat>Widescreen</PresentationFormat>
  <Paragraphs>121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Calibri (Body)</vt:lpstr>
      <vt:lpstr>Frutiger 45 bold</vt:lpstr>
      <vt:lpstr>Frutiger LT Pro 45 Light</vt:lpstr>
      <vt:lpstr>Segoe UI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Dhayanidhi RS</cp:lastModifiedBy>
  <cp:revision>38</cp:revision>
  <dcterms:created xsi:type="dcterms:W3CDTF">2024-05-13T10:33:11Z</dcterms:created>
  <dcterms:modified xsi:type="dcterms:W3CDTF">2026-10-13T08:39:45Z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