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147470505" r:id="rId2"/>
    <p:sldId id="2147470507" r:id="rId3"/>
    <p:sldId id="2147470493" r:id="rId4"/>
    <p:sldId id="2147470487" r:id="rId5"/>
    <p:sldId id="2147470494" r:id="rId6"/>
    <p:sldId id="2147470501" r:id="rId7"/>
    <p:sldId id="2147470523" r:id="rId8"/>
    <p:sldId id="2147470514" r:id="rId9"/>
    <p:sldId id="2147470497" r:id="rId10"/>
    <p:sldId id="2147470517" r:id="rId11"/>
    <p:sldId id="2147470499" r:id="rId12"/>
    <p:sldId id="2147470515" r:id="rId13"/>
    <p:sldId id="2147470516" r:id="rId14"/>
    <p:sldId id="214747051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B9ED"/>
    <a:srgbClr val="FFFFFF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B2B53-EE83-4EB0-B8FA-6E42468EE333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145041-4B97-4394-AFDC-A96C4B2AF6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485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ClusterMind detects GPU degradation, explains its workload impact, identifies the probable cause, and recommends a safe recovery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45041-4B97-4394-AFDC-A96C4B2AF6D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753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ClusterMind converts raw GPU telemetry into an understandable incident explanation and a controlled recovery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45041-4B97-4394-AFDC-A96C4B2AF6D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345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 objective is not only anomaly detection. The system must explain what happened, why it matters, and what should be done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45041-4B97-4394-AFDC-A96C4B2AF6D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215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Each module has one clear responsibility, allowing the platform to remain modular, testable, and replaceable.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45041-4B97-4394-AFDC-A96C4B2AF6D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8970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The key problem is the gap between detecting an unusual metric and making a safe operational decision. The core problem is not the absence of monitoring; it is the gap between an alert and a trustworthy operational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45041-4B97-4394-AFDC-A96C4B2AF6D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726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The methodology separates deterministic detection, agent reasoning, and human authorization rather than allowing one model to control the entire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45041-4B97-4394-AFDC-A96C4B2AF6D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015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A15DF-9F98-7EA6-B1D2-9CAEAC023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69CB9-E757-50F2-450E-F8F928854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DDB871-0CAA-A149-DD13-17476B842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The methodology separates deterministic detection, agent reasoning, and human authorization rather than allowing one model to control the entire process.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2861D-215A-1AEF-AA96-9A519ADE7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45041-4B97-4394-AFDC-A96C4B2AF6D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1826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The entire implementation is open-source and locally deployable through an isolated Docker Compose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45041-4B97-4394-AFDC-A96C4B2AF6D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284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The main finding: telemetry becomes actionable only when hardware state, workload impact, and recovery risk are evaluated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45041-4B97-4394-AFDC-A96C4B2AF6D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400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B223D-D69B-C3F0-AC42-70744A6CB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CBD2A0-9EE1-246E-945E-DF1606C15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80C79-78FB-3381-131A-2E17E4201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The main result is a verified end-to-end incident path from telemetry ingestion to explainable, human-approved recovery. Isolation Forest is used as a candidate-anomaly detector; final decisions are produced through workload correlation and multi-agent reasoning.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6795A-44AE-A838-2EBC-E4DCF6D64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45041-4B97-4394-AFDC-A96C4B2AF6D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2530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ClusterMind transforms GPU monitoring from “What changed?” into “What happened, why it matters, and what should we safely do next?”</a:t>
            </a:r>
          </a:p>
          <a:p>
            <a:r>
              <a:rPr lang="en-IN" dirty="0"/>
              <a:t>The system’s value is not another dashboard. Its value is converting telemetry into an explainable and controlled operational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45041-4B97-4394-AFDC-A96C4B2AF6D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687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AD67D-C744-B0D4-AAA6-2001B3A01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E1A9269-3F60-4F95-D9C7-90EB0833450D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24BB1CC6-83C1-392C-1D24-F7F93D75A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77350" y="42067"/>
            <a:ext cx="6388174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48C1B77-2907-5BE7-F645-C977D9C6A5E9}"/>
              </a:ext>
            </a:extLst>
          </p:cNvPr>
          <p:cNvCxnSpPr/>
          <p:nvPr/>
        </p:nvCxnSpPr>
        <p:spPr>
          <a:xfrm>
            <a:off x="3162886" y="1090041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1338B19-E262-1A6B-94EE-E8A8C43C9E92}"/>
              </a:ext>
            </a:extLst>
          </p:cNvPr>
          <p:cNvSpPr/>
          <p:nvPr/>
        </p:nvSpPr>
        <p:spPr>
          <a:xfrm>
            <a:off x="4377762" y="1211685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582109-90C5-7CB2-71BF-90C306289C50}"/>
              </a:ext>
            </a:extLst>
          </p:cNvPr>
          <p:cNvSpPr txBox="1"/>
          <p:nvPr/>
        </p:nvSpPr>
        <p:spPr>
          <a:xfrm>
            <a:off x="180235" y="1659822"/>
            <a:ext cx="11815822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sz="3600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Dhayanidhi R S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DB17615-B064-2610-9383-D22C8F193C68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5395636-A41C-00B8-8125-C9D0FDD72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A7FEEE11-5050-9A2F-2B74-A82F06CA3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022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DB4F5-782B-CED1-8F5C-E3284AA4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C358CE-C16C-8A5A-ABDE-83B17805CD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1274" y="1271219"/>
            <a:ext cx="11753011" cy="5325520"/>
          </a:xfrm>
        </p:spPr>
        <p:txBody>
          <a:bodyPr/>
          <a:lstStyle/>
          <a:p>
            <a:pPr algn="just" fontAlgn="t">
              <a:lnSpc>
                <a:spcPct val="150000"/>
              </a:lnSpc>
              <a:buNone/>
            </a:pPr>
            <a:r>
              <a:rPr lang="en-IN" sz="2500" dirty="0">
                <a:latin typeface="+mn-lt"/>
              </a:rPr>
              <a:t>Background</a:t>
            </a:r>
          </a:p>
          <a:p>
            <a:pPr lvl="1" algn="just">
              <a:lnSpc>
                <a:spcPct val="100000"/>
              </a:lnSpc>
            </a:pPr>
            <a:r>
              <a:rPr lang="en-IN" b="0" dirty="0">
                <a:solidFill>
                  <a:schemeClr val="tx1"/>
                </a:solidFill>
              </a:rPr>
              <a:t>Modern AI training and inference depend on costly, long-running GPU clusters</a:t>
            </a:r>
            <a:r>
              <a:rPr lang="en-IN" dirty="0"/>
              <a:t> where </a:t>
            </a:r>
            <a:r>
              <a:rPr lang="en-IN" b="0" dirty="0">
                <a:solidFill>
                  <a:schemeClr val="tx1"/>
                </a:solidFill>
              </a:rPr>
              <a:t>thermal, memory, power, </a:t>
            </a:r>
            <a:r>
              <a:rPr lang="en-IN" dirty="0"/>
              <a:t>hardware</a:t>
            </a:r>
            <a:r>
              <a:rPr lang="en-IN" b="0" dirty="0">
                <a:solidFill>
                  <a:schemeClr val="tx1"/>
                </a:solidFill>
              </a:rPr>
              <a:t> and interconnect issues can reduce throughput, interrupt workloads</a:t>
            </a:r>
            <a:r>
              <a:rPr lang="en-IN" dirty="0"/>
              <a:t> </a:t>
            </a:r>
            <a:r>
              <a:rPr lang="en-IN" b="0" dirty="0">
                <a:solidFill>
                  <a:schemeClr val="tx1"/>
                </a:solidFill>
              </a:rPr>
              <a:t>and waste compute capacity.</a:t>
            </a:r>
          </a:p>
          <a:p>
            <a:pPr lvl="1" algn="just">
              <a:lnSpc>
                <a:spcPct val="100000"/>
              </a:lnSpc>
            </a:pPr>
            <a:r>
              <a:rPr lang="en-IN" dirty="0"/>
              <a:t>Existing monitoring platforms expose these failures as technical metrics, but understanding the workload impact, probable cause, and correct recovery action still requires expert manual analysis.</a:t>
            </a:r>
            <a:endParaRPr lang="en-IN" b="0" dirty="0">
              <a:solidFill>
                <a:schemeClr val="tx1"/>
              </a:solidFill>
            </a:endParaRPr>
          </a:p>
          <a:p>
            <a:pPr algn="just" fontAlgn="t">
              <a:lnSpc>
                <a:spcPct val="150000"/>
              </a:lnSpc>
              <a:buNone/>
            </a:pPr>
            <a:r>
              <a:rPr lang="en-IN" sz="2500" dirty="0">
                <a:latin typeface="+mn-lt"/>
              </a:rPr>
              <a:t>Proposed System</a:t>
            </a:r>
          </a:p>
          <a:p>
            <a:pPr lvl="1" algn="just" fontAlgn="t">
              <a:lnSpc>
                <a:spcPct val="100000"/>
              </a:lnSpc>
            </a:pPr>
            <a:r>
              <a:rPr lang="en-IN" b="1" dirty="0"/>
              <a:t>ClusterMind</a:t>
            </a:r>
            <a:r>
              <a:rPr lang="en-IN" dirty="0"/>
              <a:t> is an end-to-end GPU assurance platform that collects telemetry, detects anomalous </a:t>
            </a:r>
            <a:r>
              <a:rPr lang="en-IN" dirty="0" err="1"/>
              <a:t>behavior</a:t>
            </a:r>
            <a:r>
              <a:rPr lang="en-IN" dirty="0"/>
              <a:t>, evaluates workload impact, and coordinates four specialized agents to diagnose the probable cause and recommend recovery.</a:t>
            </a:r>
          </a:p>
          <a:p>
            <a:pPr lvl="1" algn="just" fontAlgn="t">
              <a:lnSpc>
                <a:spcPct val="150000"/>
              </a:lnSpc>
            </a:pPr>
            <a:endParaRPr lang="en-IN" b="0" dirty="0">
              <a:solidFill>
                <a:schemeClr val="tx1"/>
              </a:solidFill>
            </a:endParaRPr>
          </a:p>
          <a:p>
            <a:pPr algn="just" fontAlgn="t">
              <a:lnSpc>
                <a:spcPct val="150000"/>
              </a:lnSpc>
              <a:buNone/>
            </a:pPr>
            <a:endParaRPr lang="en-US" sz="2500" b="0" dirty="0">
              <a:solidFill>
                <a:srgbClr val="5583D1"/>
              </a:solidFill>
              <a:latin typeface="+mn-lt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5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9D974-EEFA-301A-100C-0E737545670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4106A8-C4CC-2E45-C327-C3D8A90C10D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3CB1B7B-FEC5-65E1-9A64-665B86CD3F0B}"/>
              </a:ext>
            </a:extLst>
          </p:cNvPr>
          <p:cNvSpPr txBox="1"/>
          <p:nvPr/>
        </p:nvSpPr>
        <p:spPr>
          <a:xfrm>
            <a:off x="4637315" y="57036"/>
            <a:ext cx="7554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470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34637"/>
            <a:ext cx="11674746" cy="5438303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Detect abnormal GPU </a:t>
            </a:r>
            <a:r>
              <a:rPr lang="en-IN" b="0" dirty="0" err="1">
                <a:solidFill>
                  <a:schemeClr val="tx1"/>
                </a:solidFill>
                <a:latin typeface="+mn-lt"/>
              </a:rPr>
              <a:t>behavior</a:t>
            </a:r>
            <a:r>
              <a:rPr lang="en-IN" b="0" dirty="0">
                <a:solidFill>
                  <a:schemeClr val="tx1"/>
                </a:solidFill>
                <a:latin typeface="+mn-lt"/>
              </a:rPr>
              <a:t> from correlated telemetry.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Measure the impact on training and inference workloads.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Identify probable root causes using evidence and runbooks.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Generate safe, checkpoint-aware recovery recommendations.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Keep infrastructure-changing actions behind human approval.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Provide end-to-end monitoring, tracing, and operator visibility.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4582887" y="57036"/>
            <a:ext cx="76091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685633" cy="5434378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5583D1"/>
                </a:solidFill>
                <a:latin typeface="+mn-lt"/>
              </a:rPr>
              <a:t>GPU Telemetry and Simulation</a:t>
            </a:r>
          </a:p>
          <a:p>
            <a:pPr>
              <a:lnSpc>
                <a:spcPct val="100000"/>
              </a:lnSpc>
            </a:pP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Generates correlated GPU, node, workload, and incident telemetry for a 40-GPU synthetic cluster.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sz="2200" dirty="0">
                <a:highlight>
                  <a:srgbClr val="FFFFFF"/>
                </a:highlight>
                <a:latin typeface="+mn-lt"/>
              </a:rPr>
              <a:t>Anomaly Detection</a:t>
            </a:r>
          </a:p>
          <a:p>
            <a:pPr fontAlgn="t">
              <a:lnSpc>
                <a:spcPct val="100000"/>
              </a:lnSpc>
            </a:pP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Uses Isolation Forest and deterministic hardware rules to identify candidate GPU anomalies.</a:t>
            </a:r>
            <a:endParaRPr lang="en-IN" sz="2200" b="0" dirty="0">
              <a:highlight>
                <a:srgbClr val="FFFFFF"/>
              </a:highlight>
              <a:latin typeface="+mn-lt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n-IN" sz="2200" dirty="0">
                <a:highlight>
                  <a:srgbClr val="FFFFFF"/>
                </a:highlight>
                <a:latin typeface="+mn-lt"/>
              </a:rPr>
              <a:t>Multi-Agent Intelligence</a:t>
            </a:r>
          </a:p>
          <a:p>
            <a:pPr fontAlgn="t">
              <a:lnSpc>
                <a:spcPct val="100000"/>
              </a:lnSpc>
            </a:pP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Coordinates Telemetry, Workload Impact, Root Cause, and Recovery Agents through </a:t>
            </a:r>
            <a:r>
              <a:rPr lang="en-IN" sz="2200" b="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LangGraph</a:t>
            </a: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.</a:t>
            </a:r>
            <a:endParaRPr lang="en-IN" sz="2200" b="0" dirty="0">
              <a:highlight>
                <a:srgbClr val="FFFFFF"/>
              </a:highlight>
              <a:latin typeface="+mn-lt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n-IN" sz="2200" dirty="0">
                <a:highlight>
                  <a:srgbClr val="FFFFFF"/>
                </a:highlight>
                <a:latin typeface="+mn-lt"/>
              </a:rPr>
              <a:t>Human Approval and Recovery</a:t>
            </a:r>
          </a:p>
          <a:p>
            <a:pPr fontAlgn="t">
              <a:lnSpc>
                <a:spcPct val="100000"/>
              </a:lnSpc>
            </a:pP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Presents evidence-backed recovery plans before any migration, restart, or quarantine action.</a:t>
            </a:r>
            <a:endParaRPr lang="en-IN" sz="2200" b="0" dirty="0">
              <a:highlight>
                <a:srgbClr val="FFFFFF"/>
              </a:highlight>
              <a:latin typeface="+mn-lt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n-IN" sz="2200" dirty="0">
                <a:highlight>
                  <a:srgbClr val="FFFFFF"/>
                </a:highlight>
                <a:latin typeface="+mn-lt"/>
              </a:rPr>
              <a:t>Operations and Observability</a:t>
            </a:r>
          </a:p>
          <a:p>
            <a:pPr fontAlgn="t">
              <a:lnSpc>
                <a:spcPct val="100000"/>
              </a:lnSpc>
            </a:pP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Combines Streamlit, Grafana, </a:t>
            </a:r>
            <a:r>
              <a:rPr lang="en-IN" sz="2200" b="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InfluxDB</a:t>
            </a: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, Prometheus, </a:t>
            </a:r>
            <a:r>
              <a:rPr lang="en-IN" sz="2200" b="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OpenTelemetry</a:t>
            </a: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, Jaeger, Redis, Celery, and </a:t>
            </a:r>
            <a:r>
              <a:rPr lang="en-IN" sz="2200" b="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ntfy</a:t>
            </a: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b="0" dirty="0">
              <a:solidFill>
                <a:srgbClr val="242424"/>
              </a:solidFill>
              <a:highlight>
                <a:srgbClr val="FFFFFF"/>
              </a:highlight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ClusterMind Core 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4886201" y="57036"/>
            <a:ext cx="7305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631204" cy="5423490"/>
          </a:xfrm>
        </p:spPr>
        <p:txBody>
          <a:bodyPr/>
          <a:lstStyle/>
          <a:p>
            <a:r>
              <a:rPr lang="en-IN" b="0" dirty="0">
                <a:solidFill>
                  <a:schemeClr val="tx1"/>
                </a:solidFill>
                <a:latin typeface="+mn-lt"/>
              </a:rPr>
              <a:t>GPU monitoring tools expose technical metrics but lack operational explanation.</a:t>
            </a:r>
          </a:p>
          <a:p>
            <a:r>
              <a:rPr lang="en-IN" b="0" dirty="0">
                <a:solidFill>
                  <a:schemeClr val="tx1"/>
                </a:solidFill>
                <a:latin typeface="+mn-lt"/>
              </a:rPr>
              <a:t>High utilization may represent either productive work or harmful degradation.</a:t>
            </a:r>
          </a:p>
          <a:p>
            <a:r>
              <a:rPr lang="en-IN" b="0" dirty="0">
                <a:solidFill>
                  <a:schemeClr val="tx1"/>
                </a:solidFill>
                <a:latin typeface="+mn-lt"/>
              </a:rPr>
              <a:t>A hardware anomaly does not automatically reveal workload impact or root cause.</a:t>
            </a:r>
          </a:p>
          <a:p>
            <a:r>
              <a:rPr lang="en-IN" b="0" dirty="0">
                <a:solidFill>
                  <a:schemeClr val="tx1"/>
                </a:solidFill>
                <a:latin typeface="+mn-lt"/>
              </a:rPr>
              <a:t>Manual diagnosis increases incident response time and requires specialist knowledge.</a:t>
            </a:r>
          </a:p>
          <a:p>
            <a:r>
              <a:rPr lang="en-IN" b="0" dirty="0">
                <a:solidFill>
                  <a:schemeClr val="tx1"/>
                </a:solidFill>
                <a:latin typeface="+mn-lt"/>
              </a:rPr>
              <a:t>Fully autonomous recovery is unsafe for costly training and inference workloads. Therefore a unified, explainable, human-controlled assurance platform is required.</a:t>
            </a:r>
          </a:p>
          <a:p>
            <a:pPr>
              <a:lnSpc>
                <a:spcPct val="150000"/>
              </a:lnSpc>
            </a:pP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4886203" y="57036"/>
            <a:ext cx="7305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663861" cy="532552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4886203" y="57036"/>
            <a:ext cx="7305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4D44D7-7C25-DC52-2783-9E1A909381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257" y="1234637"/>
            <a:ext cx="8643257" cy="556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2D354-CFBC-27EC-D8EC-F0A39852C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F2316F-19C5-A8AB-BD37-157C1826DADF}"/>
              </a:ext>
            </a:extLst>
          </p:cNvPr>
          <p:cNvSpPr txBox="1"/>
          <p:nvPr/>
        </p:nvSpPr>
        <p:spPr>
          <a:xfrm>
            <a:off x="4886203" y="57036"/>
            <a:ext cx="7305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EACA2F-5905-E44A-C49D-DE7EE8DD9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71" y="511632"/>
            <a:ext cx="9416144" cy="566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52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C33DA-6F85-7C1A-C9A5-A5CB1900C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2E3219-9D2E-697F-2FF0-90778E1290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674747" cy="539083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+mn-lt"/>
              </a:rPr>
              <a:t>Data Layer: 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Synthetic GPU cluster, workload telemetry, incident labels,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InfluxDB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 OSS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n-lt"/>
              </a:rPr>
              <a:t>Detection Layer: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StandardScaler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, Isolation Forest, ECC/XID/temperature safety overrides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n-lt"/>
              </a:rPr>
              <a:t>Agent Layer: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LangGraph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 with Telemetry, Workload Impact, Root Cause, Recovery Agents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n-lt"/>
              </a:rPr>
              <a:t>Reasoning Layer: 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Local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Ollama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 model with structured prompts, runbooks, and evidence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n-lt"/>
              </a:rPr>
              <a:t>Application Layer: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FastAPI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, Streamlit operations console, Grafana technical dashboards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n-lt"/>
              </a:rPr>
              <a:t>Execution Layer: 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Redis, Celery, checkpoint-aware recovery, human approval,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ntfy</a:t>
            </a:r>
            <a:endParaRPr lang="en-IN" sz="24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latin typeface="+mn-lt"/>
              </a:rPr>
              <a:t>Observability Layer: 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Prometheus,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OpenTelemetry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, Jaeger, structured application metrics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A05D9F-34AE-CE64-31FE-FEDB3E1B20B7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 &amp; 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47B84F-0EFB-25D6-4338-0A29B8DF882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8B281B7-E643-BAA4-B7B0-C39B6D8D03C0}"/>
              </a:ext>
            </a:extLst>
          </p:cNvPr>
          <p:cNvSpPr txBox="1"/>
          <p:nvPr/>
        </p:nvSpPr>
        <p:spPr>
          <a:xfrm>
            <a:off x="4452257" y="57036"/>
            <a:ext cx="7739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992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338948"/>
            <a:ext cx="11663861" cy="532310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400" b="0" dirty="0">
                <a:solidFill>
                  <a:schemeClr val="tx1"/>
                </a:solidFill>
                <a:latin typeface="+mn-lt"/>
              </a:rPr>
              <a:t>High GPU utilization is not automatically a failure; workload progress must also be evaluated.</a:t>
            </a:r>
          </a:p>
          <a:p>
            <a:pPr>
              <a:lnSpc>
                <a:spcPct val="100000"/>
              </a:lnSpc>
            </a:pPr>
            <a:r>
              <a:rPr lang="en-IN" sz="2400" b="0" dirty="0">
                <a:solidFill>
                  <a:schemeClr val="tx1"/>
                </a:solidFill>
                <a:latin typeface="+mn-lt"/>
              </a:rPr>
              <a:t>Unsupervised anomaly detection is effective for candidate screening, but insufficient for final incident decisions.</a:t>
            </a:r>
          </a:p>
          <a:p>
            <a:pPr>
              <a:lnSpc>
                <a:spcPct val="100000"/>
              </a:lnSpc>
            </a:pPr>
            <a:r>
              <a:rPr lang="en-IN" sz="2400" b="0" dirty="0">
                <a:solidFill>
                  <a:schemeClr val="tx1"/>
                </a:solidFill>
                <a:latin typeface="+mn-lt"/>
              </a:rPr>
              <a:t>Explicit ECC, XID, and temperature rules are essential for safety-critical hardware events. Correlating GPU and workload telemetry reduces misleading infrastructure-only conclusions.</a:t>
            </a:r>
          </a:p>
          <a:p>
            <a:pPr>
              <a:lnSpc>
                <a:spcPct val="100000"/>
              </a:lnSpc>
            </a:pPr>
            <a:r>
              <a:rPr lang="en-IN" sz="2400" b="0" dirty="0">
                <a:solidFill>
                  <a:schemeClr val="tx1"/>
                </a:solidFill>
                <a:latin typeface="+mn-lt"/>
              </a:rPr>
              <a:t>Specialized agents produce clearer and more auditable decisions than a single general-purpose agent.</a:t>
            </a:r>
          </a:p>
          <a:p>
            <a:pPr>
              <a:lnSpc>
                <a:spcPct val="100000"/>
              </a:lnSpc>
            </a:pPr>
            <a:r>
              <a:rPr lang="en-IN" sz="2400" b="0" dirty="0">
                <a:solidFill>
                  <a:schemeClr val="tx1"/>
                </a:solidFill>
                <a:latin typeface="+mn-lt"/>
              </a:rPr>
              <a:t>Human approval is necessary before workload migration, restart, checkpoint recovery, or node quarantine.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IN" sz="2400" dirty="0">
                <a:solidFill>
                  <a:srgbClr val="25B9ED"/>
                </a:solidFill>
                <a:latin typeface="+mn-lt"/>
              </a:rPr>
              <a:t>GPU Anomaly + Workload Impact + Operational Context = Actionable Incident</a:t>
            </a:r>
            <a:endParaRPr lang="en-US" sz="2400" dirty="0">
              <a:solidFill>
                <a:srgbClr val="25B9ED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Key Findings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4886203" y="57036"/>
            <a:ext cx="7305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8A3F0-8E70-F0D9-C217-4825E4599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CFFB56-09F5-0065-E9B0-6BC4337461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338948"/>
            <a:ext cx="11663861" cy="5323108"/>
          </a:xfrm>
        </p:spPr>
        <p:txBody>
          <a:bodyPr/>
          <a:lstStyle/>
          <a:p>
            <a:pPr marL="0" indent="0">
              <a:buNone/>
            </a:pPr>
            <a:r>
              <a:rPr lang="en-IN" b="0" dirty="0">
                <a:latin typeface="+mn-lt"/>
              </a:rPr>
              <a:t>Dataset and Validation:</a:t>
            </a:r>
          </a:p>
          <a:p>
            <a:r>
              <a:rPr lang="en-IN" sz="2400" b="0" dirty="0">
                <a:solidFill>
                  <a:schemeClr val="tx1"/>
                </a:solidFill>
                <a:latin typeface="+mn-lt"/>
              </a:rPr>
              <a:t>10 simulated nodes with 40 GPUs, 7 days of correlated telemetry at 5-minute intervals</a:t>
            </a:r>
          </a:p>
          <a:p>
            <a:r>
              <a:rPr lang="en-IN" sz="2400" b="0" dirty="0">
                <a:solidFill>
                  <a:schemeClr val="tx1"/>
                </a:solidFill>
                <a:latin typeface="+mn-lt"/>
              </a:rPr>
              <a:t>80,640 GPU telemetry records, 20,160 node records, and 20,160 workload records</a:t>
            </a:r>
          </a:p>
          <a:p>
            <a:r>
              <a:rPr lang="en-IN" sz="2400" b="0" dirty="0">
                <a:solidFill>
                  <a:schemeClr val="tx1"/>
                </a:solidFill>
                <a:latin typeface="+mn-lt"/>
              </a:rPr>
              <a:t>35 labelled incidents across 6 GPU failure scenarios</a:t>
            </a:r>
          </a:p>
          <a:p>
            <a:r>
              <a:rPr lang="en-IN" sz="2400" b="0" dirty="0">
                <a:solidFill>
                  <a:schemeClr val="tx1"/>
                </a:solidFill>
                <a:latin typeface="+mn-lt"/>
              </a:rPr>
              <a:t>63 unit tests passed across generation, scenarios, and export layers</a:t>
            </a:r>
          </a:p>
          <a:p>
            <a:pPr marL="0" indent="0">
              <a:buNone/>
            </a:pPr>
            <a:r>
              <a:rPr lang="en-IN" b="0" dirty="0"/>
              <a:t>Isolation Forest Baseline:</a:t>
            </a: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+mn-lt"/>
              </a:rPr>
              <a:t>Precision: 11.32%	Recall: 38.26%		F1 Score: 17.47%	False-Positive Rate: 3.64%</a:t>
            </a:r>
          </a:p>
          <a:p>
            <a:pPr marL="0" indent="0">
              <a:buNone/>
            </a:pPr>
            <a:r>
              <a:rPr lang="en-IN" b="0" dirty="0"/>
              <a:t>End-to-End Outcome:</a:t>
            </a:r>
          </a:p>
          <a:p>
            <a:pPr marL="0" indent="0" algn="just">
              <a:buNone/>
            </a:pPr>
            <a:r>
              <a:rPr lang="en-IN" sz="2400" b="0" dirty="0">
                <a:solidFill>
                  <a:schemeClr val="tx1"/>
                </a:solidFill>
                <a:latin typeface="+mn-lt"/>
              </a:rPr>
              <a:t>ClusterMind was completed as an end-to-end, containerized GPU assurance platform covering telemetry generation, time-series ingestion, anomaly detection, multi-agent diagnosis, workload-impact analysis, recovery planning, and human approval.</a:t>
            </a:r>
          </a:p>
          <a:p>
            <a:pPr marL="0" indent="0">
              <a:buNone/>
            </a:pPr>
            <a:endParaRPr lang="en-IN" b="0" dirty="0"/>
          </a:p>
          <a:p>
            <a:pPr marL="0" indent="0">
              <a:buNone/>
            </a:pPr>
            <a:endParaRPr lang="en-IN" sz="24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</a:pPr>
            <a:endParaRPr lang="en-US" sz="24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5C6404-A8F0-CD75-BC96-8B406C749FA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3E3D5F-BDA3-E617-4637-A0F384A95FD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DD394DF-7AC5-858E-F98B-A3E9DDF0FC9F}"/>
              </a:ext>
            </a:extLst>
          </p:cNvPr>
          <p:cNvSpPr txBox="1"/>
          <p:nvPr/>
        </p:nvSpPr>
        <p:spPr>
          <a:xfrm>
            <a:off x="4886203" y="57036"/>
            <a:ext cx="7305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479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631204" cy="532552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ClusterMind bridges monitoring, diagnosis, and controlled recovery.</a:t>
            </a:r>
          </a:p>
          <a:p>
            <a:pPr>
              <a:lnSpc>
                <a:spcPct val="100000"/>
              </a:lnSpc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Multi-agent reasoning converts technical telemetry into operational decisions.</a:t>
            </a:r>
          </a:p>
          <a:p>
            <a:pPr>
              <a:lnSpc>
                <a:spcPct val="100000"/>
              </a:lnSpc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Workload correlation prevents high utilization from being treated as automatic failure.</a:t>
            </a:r>
          </a:p>
          <a:p>
            <a:pPr>
              <a:lnSpc>
                <a:spcPct val="100000"/>
              </a:lnSpc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Human approval keeps recovery actions safe and auditable.</a:t>
            </a:r>
          </a:p>
          <a:p>
            <a:pPr>
              <a:lnSpc>
                <a:spcPct val="100000"/>
              </a:lnSpc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The hybrid Streamlit and Grafana interface supports both users and engineers.</a:t>
            </a:r>
          </a:p>
          <a:p>
            <a:pPr>
              <a:lnSpc>
                <a:spcPct val="100000"/>
              </a:lnSpc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The architecture is modular, observable, open-source, and deployment-ready.</a:t>
            </a:r>
          </a:p>
          <a:p>
            <a:pPr>
              <a:lnSpc>
                <a:spcPct val="100000"/>
              </a:lnSpc>
            </a:pP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4517571" y="57036"/>
            <a:ext cx="7674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BA256-2600-B212-B0E5-F38CC082A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410F1C-EFD0-37F8-E767-FC8F7E6942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642090" cy="5379943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b="0" dirty="0">
                <a:solidFill>
                  <a:srgbClr val="00B0F0"/>
                </a:solidFill>
                <a:latin typeface="+mn-lt"/>
              </a:rPr>
              <a:t>I sincerely thank:</a:t>
            </a:r>
          </a:p>
          <a:p>
            <a:pPr lvl="1">
              <a:lnSpc>
                <a:spcPct val="100000"/>
              </a:lnSpc>
            </a:pPr>
            <a:r>
              <a:rPr lang="en-IN" sz="2800" b="0" dirty="0">
                <a:solidFill>
                  <a:schemeClr val="tx1"/>
                </a:solidFill>
                <a:latin typeface="+mn-lt"/>
              </a:rPr>
              <a:t>My manager and project mentors for their guidance and technical feedback.</a:t>
            </a:r>
          </a:p>
          <a:p>
            <a:pPr lvl="1">
              <a:lnSpc>
                <a:spcPct val="150000"/>
              </a:lnSpc>
            </a:pPr>
            <a:r>
              <a:rPr lang="en-IN" sz="2800" b="0" dirty="0">
                <a:solidFill>
                  <a:schemeClr val="tx1"/>
                </a:solidFill>
                <a:latin typeface="+mn-lt"/>
              </a:rPr>
              <a:t>My organization and internship team for the opportunity and resources.</a:t>
            </a:r>
          </a:p>
          <a:p>
            <a:pPr lvl="1">
              <a:lnSpc>
                <a:spcPct val="150000"/>
              </a:lnSpc>
            </a:pPr>
            <a:r>
              <a:rPr lang="en-IN" sz="2800" b="0" dirty="0">
                <a:solidFill>
                  <a:schemeClr val="tx1"/>
                </a:solidFill>
                <a:latin typeface="+mn-lt"/>
              </a:rPr>
              <a:t>The open-source communities behind the technologies used in ClusterMind.</a:t>
            </a:r>
          </a:p>
          <a:p>
            <a:pPr lvl="1">
              <a:lnSpc>
                <a:spcPct val="150000"/>
              </a:lnSpc>
            </a:pPr>
            <a:r>
              <a:rPr lang="en-IN" sz="2800" b="0" dirty="0">
                <a:solidFill>
                  <a:schemeClr val="tx1"/>
                </a:solidFill>
                <a:latin typeface="+mn-lt"/>
              </a:rPr>
              <a:t>Everyone who supported the reviews, testing, and refinement of this project.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281D0-E186-1696-B8FE-7FD176CB1AC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F6D419B-FD61-5EF4-9667-114A5485E61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8F5D75D-71AB-315A-3EE9-6315C89C9C45}"/>
              </a:ext>
            </a:extLst>
          </p:cNvPr>
          <p:cNvSpPr txBox="1"/>
          <p:nvPr/>
        </p:nvSpPr>
        <p:spPr>
          <a:xfrm>
            <a:off x="4886203" y="57036"/>
            <a:ext cx="7305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007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0DE6C-A469-1870-1D86-18036FAFA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1F93BE-AC6D-4F6A-CC7C-B4BA5FC22F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652976" cy="5401724"/>
          </a:xfrm>
        </p:spPr>
        <p:txBody>
          <a:bodyPr/>
          <a:lstStyle/>
          <a:p>
            <a:pPr algn="just" fontAlgn="t">
              <a:buNone/>
            </a:pPr>
            <a:r>
              <a:rPr lang="en-IN" sz="2000" b="0" dirty="0">
                <a:solidFill>
                  <a:schemeClr val="tx1"/>
                </a:solidFill>
                <a:latin typeface="+mn-lt"/>
              </a:rPr>
              <a:t>[1] H. Liu, Z. Li, C. Tan, R. Yang, G. Cao, Z. Liu, and C. Guo, “Predicting GPU Failures With High Precision Under Deep Learning Workloads,” in Proc. 16th ACM Int. Syst. Storage Conf. (SYSTOR), Haifa, Israel, 2023, pp. 124–135, </a:t>
            </a:r>
            <a:r>
              <a:rPr lang="en-IN" sz="2000" b="0" dirty="0" err="1">
                <a:solidFill>
                  <a:schemeClr val="tx1"/>
                </a:solidFill>
                <a:latin typeface="+mn-lt"/>
              </a:rPr>
              <a:t>doi</a:t>
            </a:r>
            <a:r>
              <a:rPr lang="en-IN" sz="2000" b="0" dirty="0">
                <a:solidFill>
                  <a:schemeClr val="tx1"/>
                </a:solidFill>
                <a:latin typeface="+mn-lt"/>
              </a:rPr>
              <a:t>: 10.1145/3579370.3594777.</a:t>
            </a:r>
          </a:p>
          <a:p>
            <a:pPr algn="just" fontAlgn="t">
              <a:buNone/>
            </a:pPr>
            <a:r>
              <a:rPr lang="en-IN" sz="2000" b="0" dirty="0">
                <a:solidFill>
                  <a:schemeClr val="tx1"/>
                </a:solidFill>
                <a:latin typeface="+mn-lt"/>
              </a:rPr>
              <a:t>[2] Z. Yao, P. Hu, C. Miao, X. Jia, Z. Liang, Y. Xu, C. He, H. Lu, M. Chen, X. Li, Z. He, Y. Wang, X. Zou, and J. Jiang, “Holmes: Localizing Irregularities in LLM Training with Mega-Scale GPU Clusters,” in Proc. 22nd USENIX Symp. Networked Syst. Design Implement. (NSDI), Philadelphia, PA, USA, 2025.</a:t>
            </a:r>
          </a:p>
          <a:p>
            <a:pPr algn="just" fontAlgn="t">
              <a:buNone/>
            </a:pPr>
            <a:r>
              <a:rPr lang="en-IN" sz="2000" b="0" dirty="0">
                <a:solidFill>
                  <a:schemeClr val="tx1"/>
                </a:solidFill>
                <a:latin typeface="+mn-lt"/>
              </a:rPr>
              <a:t>[3] Q. Weng, W. Xiao, Y. Yu, W. Wang, C. Wang, J. He, Y. Li, L. Zhang, W. Lin, and Y. Ding, “</a:t>
            </a:r>
            <a:r>
              <a:rPr lang="en-IN" sz="2000" b="0" dirty="0" err="1">
                <a:solidFill>
                  <a:schemeClr val="tx1"/>
                </a:solidFill>
                <a:latin typeface="+mn-lt"/>
              </a:rPr>
              <a:t>MLaaS</a:t>
            </a:r>
            <a:r>
              <a:rPr lang="en-IN" sz="2000" b="0" dirty="0">
                <a:solidFill>
                  <a:schemeClr val="tx1"/>
                </a:solidFill>
                <a:latin typeface="+mn-lt"/>
              </a:rPr>
              <a:t> in the Wild: Workload Analysis and Scheduling in Large-Scale Heterogeneous GPU Clusters,” in Proc. 19th USENIX Symp. Networked Syst. Design Implement. (NSDI), Renton, WA, USA, 2022, pp. 945–960.</a:t>
            </a:r>
          </a:p>
          <a:p>
            <a:pPr algn="just" fontAlgn="t">
              <a:buNone/>
            </a:pPr>
            <a:r>
              <a:rPr lang="en-IN" sz="2000" b="0" dirty="0">
                <a:solidFill>
                  <a:schemeClr val="tx1"/>
                </a:solidFill>
                <a:latin typeface="+mn-lt"/>
              </a:rPr>
              <a:t>[4] T. Kim, S. Jeong, J. Lee, S. Lee, and M. Jeon, “Sibylla: To Retry or Not To Retry on Deep Learning Job Failure,” in Proc. USENIX Annu. Tech. Conf. (USENIX ATC), Carlsbad, CA, USA, 2022, pp. 263–270.</a:t>
            </a:r>
          </a:p>
          <a:p>
            <a:pPr algn="just" fontAlgn="t">
              <a:buNone/>
            </a:pPr>
            <a:r>
              <a:rPr lang="en-IN" sz="2000" b="0" dirty="0">
                <a:solidFill>
                  <a:schemeClr val="tx1"/>
                </a:solidFill>
                <a:latin typeface="+mn-lt"/>
              </a:rPr>
              <a:t>[5] Y. Chen et al., “Automatic Root Cause Analysis via Large Language Models for Cloud Incidents,” in Proc. 19th Eur. Conf. </a:t>
            </a:r>
            <a:r>
              <a:rPr lang="en-IN" sz="2000" b="0" dirty="0" err="1">
                <a:solidFill>
                  <a:schemeClr val="tx1"/>
                </a:solidFill>
                <a:latin typeface="+mn-lt"/>
              </a:rPr>
              <a:t>Comput</a:t>
            </a:r>
            <a:r>
              <a:rPr lang="en-IN" sz="2000" b="0" dirty="0">
                <a:solidFill>
                  <a:schemeClr val="tx1"/>
                </a:solidFill>
                <a:latin typeface="+mn-lt"/>
              </a:rPr>
              <a:t>. Syst. (</a:t>
            </a:r>
            <a:r>
              <a:rPr lang="en-IN" sz="2000" b="0" dirty="0" err="1">
                <a:solidFill>
                  <a:schemeClr val="tx1"/>
                </a:solidFill>
                <a:latin typeface="+mn-lt"/>
              </a:rPr>
              <a:t>EuroSys</a:t>
            </a:r>
            <a:r>
              <a:rPr lang="en-IN" sz="2000" b="0" dirty="0">
                <a:solidFill>
                  <a:schemeClr val="tx1"/>
                </a:solidFill>
                <a:latin typeface="+mn-lt"/>
              </a:rPr>
              <a:t>), Athens, Greece, 2024, pp. 674–688, </a:t>
            </a:r>
            <a:r>
              <a:rPr lang="en-IN" sz="2000" b="0" dirty="0" err="1">
                <a:solidFill>
                  <a:schemeClr val="tx1"/>
                </a:solidFill>
                <a:latin typeface="+mn-lt"/>
              </a:rPr>
              <a:t>doi</a:t>
            </a:r>
            <a:r>
              <a:rPr lang="en-IN" sz="2000" b="0" dirty="0">
                <a:solidFill>
                  <a:schemeClr val="tx1"/>
                </a:solidFill>
                <a:latin typeface="+mn-lt"/>
              </a:rPr>
              <a:t>: 10.1145/3627703.3629553.</a:t>
            </a:r>
          </a:p>
          <a:p>
            <a:pPr algn="just" fontAlgn="t">
              <a:buNone/>
            </a:pPr>
            <a:r>
              <a:rPr lang="en-IN" sz="2000" b="0" dirty="0">
                <a:solidFill>
                  <a:schemeClr val="tx1"/>
                </a:solidFill>
                <a:latin typeface="+mn-lt"/>
              </a:rPr>
              <a:t>[6] Z. Wang, Z. Liu, Y. Zhang, A. Zhong, J. Wang, F. Yin, L. Fan, L. Wu, and Q. Wen, “</a:t>
            </a:r>
            <a:r>
              <a:rPr lang="en-IN" sz="2000" b="0" dirty="0" err="1">
                <a:solidFill>
                  <a:schemeClr val="tx1"/>
                </a:solidFill>
                <a:latin typeface="+mn-lt"/>
              </a:rPr>
              <a:t>RCAgent</a:t>
            </a:r>
            <a:r>
              <a:rPr lang="en-IN" sz="2000" b="0" dirty="0">
                <a:solidFill>
                  <a:schemeClr val="tx1"/>
                </a:solidFill>
                <a:latin typeface="+mn-lt"/>
              </a:rPr>
              <a:t>: Cloud Root Cause Analysis by Autonomous Agents with Tool-Augmented Large Language Models,” in Proc. 33rd ACM Int. Conf. Inf. </a:t>
            </a:r>
            <a:r>
              <a:rPr lang="en-IN" sz="2000" b="0" dirty="0" err="1">
                <a:solidFill>
                  <a:schemeClr val="tx1"/>
                </a:solidFill>
                <a:latin typeface="+mn-lt"/>
              </a:rPr>
              <a:t>Knowl</a:t>
            </a:r>
            <a:r>
              <a:rPr lang="en-IN" sz="2000" b="0" dirty="0">
                <a:solidFill>
                  <a:schemeClr val="tx1"/>
                </a:solidFill>
                <a:latin typeface="+mn-lt"/>
              </a:rPr>
              <a:t>. Manage. (CIKM), Boise, ID, USA, 2024, pp. 4966–4974, </a:t>
            </a:r>
            <a:r>
              <a:rPr lang="en-IN" sz="2000" b="0" dirty="0" err="1">
                <a:solidFill>
                  <a:schemeClr val="tx1"/>
                </a:solidFill>
                <a:latin typeface="+mn-lt"/>
              </a:rPr>
              <a:t>doi</a:t>
            </a:r>
            <a:r>
              <a:rPr lang="en-IN" sz="2000" b="0" dirty="0">
                <a:solidFill>
                  <a:schemeClr val="tx1"/>
                </a:solidFill>
                <a:latin typeface="+mn-lt"/>
              </a:rPr>
              <a:t>: 10.1145/3627673.3680016.</a:t>
            </a:r>
          </a:p>
          <a:p>
            <a:pPr algn="just" fontAlgn="t">
              <a:buNone/>
            </a:pPr>
            <a:endParaRPr lang="en-IN" sz="2000" b="0" dirty="0">
              <a:solidFill>
                <a:schemeClr val="tx1"/>
              </a:solidFill>
              <a:latin typeface="+mn-lt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0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A1DA8C-BC47-959B-4210-36174F9BC4A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References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AF4ECB-3A4C-A5B0-4EB8-DC8F7B54B05A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2AC382C-A8E3-919E-68E6-A6DDF98DB542}"/>
              </a:ext>
            </a:extLst>
          </p:cNvPr>
          <p:cNvSpPr txBox="1"/>
          <p:nvPr/>
        </p:nvSpPr>
        <p:spPr>
          <a:xfrm>
            <a:off x="4680857" y="57036"/>
            <a:ext cx="751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989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BF078-512F-F0B6-BAC3-2CEF0D9E6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75C2AB-F01C-8EA8-CC25-26F3BE2A59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652976" cy="5401724"/>
          </a:xfrm>
        </p:spPr>
        <p:txBody>
          <a:bodyPr/>
          <a:lstStyle/>
          <a:p>
            <a:pPr algn="just" fontAlgn="t">
              <a:lnSpc>
                <a:spcPct val="100000"/>
              </a:lnSpc>
              <a:buNone/>
            </a:pPr>
            <a:r>
              <a:rPr lang="en-IN" sz="2300" b="0" dirty="0">
                <a:solidFill>
                  <a:schemeClr val="tx1"/>
                </a:solidFill>
                <a:latin typeface="+mn-lt"/>
              </a:rPr>
              <a:t>[7] D. Roy, X. Zhang, R. Bhave, C. Bansal, P. Las-Casas, R. Fonseca, and S. Rajmohan, “Exploring LLM-Based Agents for Root Cause Analysis,” in Companion Proc. 32nd ACM Int. Conf. Found. </a:t>
            </a:r>
            <a:r>
              <a:rPr lang="en-IN" sz="2300" b="0" dirty="0" err="1">
                <a:solidFill>
                  <a:schemeClr val="tx1"/>
                </a:solidFill>
                <a:latin typeface="+mn-lt"/>
              </a:rPr>
              <a:t>Softw</a:t>
            </a:r>
            <a:r>
              <a:rPr lang="en-IN" sz="2300" b="0" dirty="0">
                <a:solidFill>
                  <a:schemeClr val="tx1"/>
                </a:solidFill>
                <a:latin typeface="+mn-lt"/>
              </a:rPr>
              <a:t>. Eng. (FSE Companion), Porto de </a:t>
            </a:r>
            <a:r>
              <a:rPr lang="en-IN" sz="2300" b="0" dirty="0" err="1">
                <a:solidFill>
                  <a:schemeClr val="tx1"/>
                </a:solidFill>
                <a:latin typeface="+mn-lt"/>
              </a:rPr>
              <a:t>Galinhas</a:t>
            </a:r>
            <a:r>
              <a:rPr lang="en-IN" sz="2300" b="0" dirty="0">
                <a:solidFill>
                  <a:schemeClr val="tx1"/>
                </a:solidFill>
                <a:latin typeface="+mn-lt"/>
              </a:rPr>
              <a:t>, Brazil, 2024, </a:t>
            </a:r>
            <a:r>
              <a:rPr lang="en-IN" sz="2300" b="0" dirty="0" err="1">
                <a:solidFill>
                  <a:schemeClr val="tx1"/>
                </a:solidFill>
                <a:latin typeface="+mn-lt"/>
              </a:rPr>
              <a:t>doi</a:t>
            </a:r>
            <a:r>
              <a:rPr lang="en-IN" sz="2300" b="0" dirty="0">
                <a:solidFill>
                  <a:schemeClr val="tx1"/>
                </a:solidFill>
                <a:latin typeface="+mn-lt"/>
              </a:rPr>
              <a:t>: 10.1145/3663529.3663841.</a:t>
            </a:r>
          </a:p>
          <a:p>
            <a:pPr algn="just" fontAlgn="t">
              <a:lnSpc>
                <a:spcPct val="100000"/>
              </a:lnSpc>
              <a:buNone/>
            </a:pPr>
            <a:r>
              <a:rPr lang="en-IN" sz="2300" b="0" dirty="0">
                <a:solidFill>
                  <a:schemeClr val="tx1"/>
                </a:solidFill>
                <a:latin typeface="+mn-lt"/>
              </a:rPr>
              <a:t>[8] S. D. Zhang, X. Zhang, C. Bansal, P. Las-Casas, R. Fonseca, and S. Rajmohan, “LM-PACE: Confidence Estimation by Large Language Models for Effective Root Causing of Cloud Incidents,” in Companion Proc. 32nd ACM Int. Conf. Found. </a:t>
            </a:r>
            <a:r>
              <a:rPr lang="en-IN" sz="2300" b="0" dirty="0" err="1">
                <a:solidFill>
                  <a:schemeClr val="tx1"/>
                </a:solidFill>
                <a:latin typeface="+mn-lt"/>
              </a:rPr>
              <a:t>Softw</a:t>
            </a:r>
            <a:r>
              <a:rPr lang="en-IN" sz="2300" b="0" dirty="0">
                <a:solidFill>
                  <a:schemeClr val="tx1"/>
                </a:solidFill>
                <a:latin typeface="+mn-lt"/>
              </a:rPr>
              <a:t>. Eng. (FSE Companion), Porto de </a:t>
            </a:r>
            <a:r>
              <a:rPr lang="en-IN" sz="2300" b="0" dirty="0" err="1">
                <a:solidFill>
                  <a:schemeClr val="tx1"/>
                </a:solidFill>
                <a:latin typeface="+mn-lt"/>
              </a:rPr>
              <a:t>Galinhas</a:t>
            </a:r>
            <a:r>
              <a:rPr lang="en-IN" sz="2300" b="0" dirty="0">
                <a:solidFill>
                  <a:schemeClr val="tx1"/>
                </a:solidFill>
                <a:latin typeface="+mn-lt"/>
              </a:rPr>
              <a:t>, Brazil, 2024, pp. 388–398, </a:t>
            </a:r>
            <a:r>
              <a:rPr lang="en-IN" sz="2300" b="0" dirty="0" err="1">
                <a:solidFill>
                  <a:schemeClr val="tx1"/>
                </a:solidFill>
                <a:latin typeface="+mn-lt"/>
              </a:rPr>
              <a:t>doi</a:t>
            </a:r>
            <a:r>
              <a:rPr lang="en-IN" sz="2300" b="0" dirty="0">
                <a:solidFill>
                  <a:schemeClr val="tx1"/>
                </a:solidFill>
                <a:latin typeface="+mn-lt"/>
              </a:rPr>
              <a:t>: 10.1145/3663529.3663858.</a:t>
            </a:r>
          </a:p>
          <a:p>
            <a:pPr algn="just" fontAlgn="t">
              <a:lnSpc>
                <a:spcPct val="100000"/>
              </a:lnSpc>
              <a:buNone/>
            </a:pPr>
            <a:r>
              <a:rPr lang="en-IN" sz="2300" b="0" dirty="0">
                <a:solidFill>
                  <a:schemeClr val="tx1"/>
                </a:solidFill>
                <a:latin typeface="+mn-lt"/>
              </a:rPr>
              <a:t>[9] T. Guo, X. Chen, Y. Wang, R. Chang, S. Pei, N. V. Chawla, O. Wiest, and X. Zhang, “Large Language Model Based Multi-Agents: A Survey of Progress and Challenges,” in Proc. 33rd Int. Joint Conf. </a:t>
            </a:r>
            <a:r>
              <a:rPr lang="en-IN" sz="2300" b="0" dirty="0" err="1">
                <a:solidFill>
                  <a:schemeClr val="tx1"/>
                </a:solidFill>
                <a:latin typeface="+mn-lt"/>
              </a:rPr>
              <a:t>Artif</a:t>
            </a:r>
            <a:r>
              <a:rPr lang="en-IN" sz="2300" b="0" dirty="0">
                <a:solidFill>
                  <a:schemeClr val="tx1"/>
                </a:solidFill>
                <a:latin typeface="+mn-lt"/>
              </a:rPr>
              <a:t>. Intell. (IJCAI), Jeju, Republic of Korea, 2024, pp. 8048–8057, </a:t>
            </a:r>
            <a:r>
              <a:rPr lang="en-IN" sz="2300" b="0" dirty="0" err="1">
                <a:solidFill>
                  <a:schemeClr val="tx1"/>
                </a:solidFill>
                <a:latin typeface="+mn-lt"/>
              </a:rPr>
              <a:t>doi</a:t>
            </a:r>
            <a:r>
              <a:rPr lang="en-IN" sz="2300" b="0" dirty="0">
                <a:solidFill>
                  <a:schemeClr val="tx1"/>
                </a:solidFill>
                <a:latin typeface="+mn-lt"/>
              </a:rPr>
              <a:t>: 10.24963/ijcai.2024/890.</a:t>
            </a:r>
          </a:p>
          <a:p>
            <a:pPr algn="just" fontAlgn="t">
              <a:lnSpc>
                <a:spcPct val="100000"/>
              </a:lnSpc>
              <a:buNone/>
            </a:pPr>
            <a:r>
              <a:rPr lang="en-IN" sz="2300" b="0" dirty="0">
                <a:solidFill>
                  <a:schemeClr val="tx1"/>
                </a:solidFill>
                <a:latin typeface="+mn-lt"/>
              </a:rPr>
              <a:t>[10] A. Bento, J. Correia, R. Filipe, F. Araujo, and J. Cardoso, “Automated Analysis of Distributed Tracing: Challenges and Research Directions,” J. Grid </a:t>
            </a:r>
            <a:r>
              <a:rPr lang="en-IN" sz="2300" b="0" dirty="0" err="1">
                <a:solidFill>
                  <a:schemeClr val="tx1"/>
                </a:solidFill>
                <a:latin typeface="+mn-lt"/>
              </a:rPr>
              <a:t>Comput</a:t>
            </a:r>
            <a:r>
              <a:rPr lang="en-IN" sz="2300" b="0" dirty="0">
                <a:solidFill>
                  <a:schemeClr val="tx1"/>
                </a:solidFill>
                <a:latin typeface="+mn-lt"/>
              </a:rPr>
              <a:t>., vol. 19, no. 1, Art. no. 9, 2021, </a:t>
            </a:r>
            <a:r>
              <a:rPr lang="en-IN" sz="2300" b="0" dirty="0" err="1">
                <a:solidFill>
                  <a:schemeClr val="tx1"/>
                </a:solidFill>
                <a:latin typeface="+mn-lt"/>
              </a:rPr>
              <a:t>doi</a:t>
            </a:r>
            <a:r>
              <a:rPr lang="en-IN" sz="2300" b="0" dirty="0">
                <a:solidFill>
                  <a:schemeClr val="tx1"/>
                </a:solidFill>
                <a:latin typeface="+mn-lt"/>
              </a:rPr>
              <a:t>: 10.1007/s10723-021-09551-5.</a:t>
            </a:r>
          </a:p>
          <a:p>
            <a:pPr algn="just" fontAlgn="t">
              <a:lnSpc>
                <a:spcPct val="100000"/>
              </a:lnSpc>
              <a:buNone/>
            </a:pPr>
            <a:endParaRPr lang="en-IN" sz="23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920203-883A-BA98-E053-E76D62A1AFD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DB39CF-C017-1DF7-A2A6-F09BA20D48A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7F50256-291F-1A28-BB3E-644E324514C6}"/>
              </a:ext>
            </a:extLst>
          </p:cNvPr>
          <p:cNvSpPr txBox="1"/>
          <p:nvPr/>
        </p:nvSpPr>
        <p:spPr>
          <a:xfrm>
            <a:off x="4680857" y="57036"/>
            <a:ext cx="751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16914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960</TotalTime>
  <Words>1985</Words>
  <Application>Microsoft Office PowerPoint</Application>
  <PresentationFormat>Widescreen</PresentationFormat>
  <Paragraphs>135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Calibri</vt:lpstr>
      <vt:lpstr>Calibri (Body)</vt:lpstr>
      <vt:lpstr>Frutiger 45 bold</vt:lpstr>
      <vt:lpstr>Frutiger LT Pro 45 Light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Dhayanidhi RS</cp:lastModifiedBy>
  <cp:revision>66</cp:revision>
  <dcterms:created xsi:type="dcterms:W3CDTF">2024-05-13T10:33:11Z</dcterms:created>
  <dcterms:modified xsi:type="dcterms:W3CDTF">2026-10-13T08:40:06Z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